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INTRODUCTION:</a:t>
            </a:r>
          </a:p>
        </p:txBody>
      </p:sp>
      <p:sp>
        <p:nvSpPr>
          <p:cNvPr id="3" name="Content Placeholder 2"/>
          <p:cNvSpPr>
            <a:spLocks noGrp="1"/>
          </p:cNvSpPr>
          <p:nvPr>
            <p:ph idx="1"/>
          </p:nvPr>
        </p:nvSpPr>
        <p:spPr/>
        <p:txBody>
          <a:bodyPr/>
          <a:lstStyle/>
          <a:p>
            <a:r>
              <a:rPr sz="1800">
                <a:solidFill>
                  <a:srgbClr val="282828"/>
                </a:solidFill>
              </a:rPr>
              <a:t>Child guidance clinic (CGC) is all-round development of a child, the Child’s physical and physiological functioning and environmental to which he is exposed at home and school, should be taken care off. Child guidance clinic is a specialized medico-social facility designed to conduct the scientific study, diagnosis, and treatment of children experiencing behavioral, emotional, or educational maladjustment. These centers use a team-based approach involving psychiatrists, psychologists, and social workers to support children and provide counseling to parents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Definition:</a:t>
            </a:r>
          </a:p>
        </p:txBody>
      </p:sp>
      <p:sp>
        <p:nvSpPr>
          <p:cNvPr id="3" name="Content Placeholder 2"/>
          <p:cNvSpPr>
            <a:spLocks noGrp="1"/>
          </p:cNvSpPr>
          <p:nvPr>
            <p:ph idx="1"/>
          </p:nvPr>
        </p:nvSpPr>
        <p:spPr/>
        <p:txBody>
          <a:bodyPr/>
          <a:lstStyle/>
          <a:p>
            <a:r>
              <a:rPr sz="1800">
                <a:solidFill>
                  <a:srgbClr val="282828"/>
                </a:solidFill>
              </a:rPr>
              <a:t>A Child Guidance Clinic (CGC) is a specialized clinic that provides assessment, diagnosis, treatment, and guidance for children with emotional, behavioral, developmental, and learning problems with the help of a multidisciplinary team of professionals such as psychiatrists, psychologists, social workers, and pediatricians.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HISTORY OF CHILD GUIDANCE CLINIC</a:t>
            </a:r>
          </a:p>
        </p:txBody>
      </p:sp>
      <p:sp>
        <p:nvSpPr>
          <p:cNvPr id="3" name="Content Placeholder 2"/>
          <p:cNvSpPr>
            <a:spLocks noGrp="1"/>
          </p:cNvSpPr>
          <p:nvPr>
            <p:ph idx="1"/>
          </p:nvPr>
        </p:nvSpPr>
        <p:spPr/>
        <p:txBody>
          <a:bodyPr/>
          <a:lstStyle/>
          <a:p>
            <a:r>
              <a:rPr sz="1800">
                <a:solidFill>
                  <a:srgbClr val="282828"/>
                </a:solidFill>
              </a:rPr>
              <a:t>The concept of Child Guidance Clinics developed in the early 20th century to address emotional, behavioral, and developmental problems in children.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89038"/>
            <a:ext cx="8229600" cy="1143000"/>
          </a:xfrm>
        </p:spPr>
        <p:txBody>
          <a:bodyPr>
            <a:noAutofit/>
          </a:bodyPr>
          <a:lstStyle/>
          <a:p>
            <a:pPr marL="342900" indent="-342900" algn="l">
              <a:spcBef>
                <a:spcPct val="20000"/>
              </a:spcBef>
              <a:buFont typeface="Arial"/>
              <a:buChar char="•"/>
            </a:pPr>
            <a:r>
              <a:rPr sz="1800" dirty="0">
                <a:solidFill>
                  <a:srgbClr val="282828"/>
                </a:solidFill>
                <a:latin typeface="+mn-lt"/>
                <a:ea typeface="+mn-ea"/>
                <a:cs typeface="+mn-cs"/>
              </a:rPr>
              <a:t>The first Child Guidance Clinic was established in Chicago, USA by William </a:t>
            </a:r>
            <a:r>
              <a:rPr sz="1800" dirty="0" err="1">
                <a:solidFill>
                  <a:srgbClr val="282828"/>
                </a:solidFill>
                <a:latin typeface="+mn-lt"/>
                <a:ea typeface="+mn-ea"/>
                <a:cs typeface="+mn-cs"/>
              </a:rPr>
              <a:t>Healy.He</a:t>
            </a:r>
            <a:r>
              <a:rPr sz="1800" dirty="0">
                <a:solidFill>
                  <a:srgbClr val="282828"/>
                </a:solidFill>
                <a:latin typeface="+mn-lt"/>
                <a:ea typeface="+mn-ea"/>
                <a:cs typeface="+mn-cs"/>
              </a:rPr>
              <a:t> worked at the Juvenile Psychopathic Institute, where he studied children with behavioral problems and juvenile delinquency. This clinic focused on understanding the psychological causes of children's behavior.1920s–1930s:</a:t>
            </a:r>
          </a:p>
        </p:txBody>
      </p:sp>
      <p:sp>
        <p:nvSpPr>
          <p:cNvPr id="3" name="Content Placeholder 2"/>
          <p:cNvSpPr>
            <a:spLocks noGrp="1"/>
          </p:cNvSpPr>
          <p:nvPr>
            <p:ph idx="1"/>
          </p:nvPr>
        </p:nvSpPr>
        <p:spPr>
          <a:xfrm>
            <a:off x="163286" y="3233057"/>
            <a:ext cx="8523514" cy="2893106"/>
          </a:xfrm>
        </p:spPr>
        <p:txBody>
          <a:bodyPr/>
          <a:lstStyle/>
          <a:p>
            <a:r>
              <a:rPr sz="1800" dirty="0">
                <a:solidFill>
                  <a:srgbClr val="282828"/>
                </a:solidFill>
              </a:rPr>
              <a:t>Child Guidance Clinics spread rapidly to Europe and other developed countries. They began focusing not only on delinquency but also on emotional disturbances, learning difficulties, and family problems.</a:t>
            </a:r>
          </a:p>
          <a:p>
            <a:r>
              <a:rPr sz="1800" dirty="0">
                <a:solidFill>
                  <a:srgbClr val="282828"/>
                </a:solidFill>
              </a:rPr>
              <a:t>The development of Child Guidance Clinics in India started later compared to Western countries.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1937 – First Child Guidance Clinic in India:</a:t>
            </a:r>
          </a:p>
        </p:txBody>
      </p:sp>
      <p:sp>
        <p:nvSpPr>
          <p:cNvPr id="3" name="Content Placeholder 2"/>
          <p:cNvSpPr>
            <a:spLocks noGrp="1"/>
          </p:cNvSpPr>
          <p:nvPr>
            <p:ph idx="1"/>
          </p:nvPr>
        </p:nvSpPr>
        <p:spPr/>
        <p:txBody>
          <a:bodyPr/>
          <a:lstStyle/>
          <a:p>
            <a:r>
              <a:rPr sz="1800">
                <a:solidFill>
                  <a:srgbClr val="282828"/>
                </a:solidFill>
              </a:rPr>
              <a:t>The first Child Guidance Clinic in India was started in Mumbai (then Bombay) at Tata Institute of Social Sciences.This clinic aimed to provide psychological and social support to children with behavioral and emotional problems.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Objectives:</a:t>
            </a:r>
          </a:p>
        </p:txBody>
      </p:sp>
      <p:sp>
        <p:nvSpPr>
          <p:cNvPr id="3" name="Content Placeholder 2"/>
          <p:cNvSpPr>
            <a:spLocks noGrp="1"/>
          </p:cNvSpPr>
          <p:nvPr>
            <p:ph idx="1"/>
          </p:nvPr>
        </p:nvSpPr>
        <p:spPr/>
        <p:txBody>
          <a:bodyPr/>
          <a:lstStyle/>
          <a:p>
            <a:r>
              <a:rPr sz="1800">
                <a:solidFill>
                  <a:srgbClr val="282828"/>
                </a:solidFill>
              </a:rPr>
              <a:t>1. To ensure all around development of children.</a:t>
            </a:r>
          </a:p>
          <a:p>
            <a:r>
              <a:rPr sz="1800">
                <a:solidFill>
                  <a:srgbClr val="282828"/>
                </a:solidFill>
              </a:rPr>
              <a:t>2. To provide counselling, guidance and information to parents regarding care and upbringing of children.</a:t>
            </a:r>
          </a:p>
          <a:p>
            <a:r>
              <a:rPr sz="1800">
                <a:solidFill>
                  <a:srgbClr val="282828"/>
                </a:solidFill>
              </a:rPr>
              <a:t>3. To train parents to facilitate development and to prepare the children for placement in the appropriate educational sector.</a:t>
            </a:r>
          </a:p>
          <a:p>
            <a:r>
              <a:rPr sz="1800">
                <a:solidFill>
                  <a:srgbClr val="282828"/>
                </a:solidFill>
              </a:rPr>
              <a:t>4. To organized remedial help for school children facing achievement problems.</a:t>
            </a:r>
          </a:p>
          <a:p>
            <a:r>
              <a:rPr sz="1800">
                <a:solidFill>
                  <a:srgbClr val="282828"/>
                </a:solidFill>
              </a:rPr>
              <a:t>5. To work out behaviour modification schedules for children presenting behaviour problem.</a:t>
            </a:r>
          </a:p>
          <a:p>
            <a:r>
              <a:rPr sz="1800">
                <a:solidFill>
                  <a:srgbClr val="282828"/>
                </a:solidFill>
              </a:rPr>
              <a:t>6. To motivate parents for increased involvement psychosocial adjustment.</a:t>
            </a:r>
          </a:p>
          <a:p>
            <a:r>
              <a:rPr sz="1800">
                <a:solidFill>
                  <a:srgbClr val="282828"/>
                </a:solidFill>
              </a:rPr>
              <a:t>7. To start early intervention of developmentally delayed children.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NEED AND SIGNIFICANCE OF  CHILD GUIDANCE CLINIC</a:t>
            </a:r>
          </a:p>
        </p:txBody>
      </p:sp>
      <p:sp>
        <p:nvSpPr>
          <p:cNvPr id="3" name="Content Placeholder 2"/>
          <p:cNvSpPr>
            <a:spLocks noGrp="1"/>
          </p:cNvSpPr>
          <p:nvPr>
            <p:ph idx="1"/>
          </p:nvPr>
        </p:nvSpPr>
        <p:spPr/>
        <p:txBody>
          <a:bodyPr/>
          <a:lstStyle/>
          <a:p>
            <a:r>
              <a:rPr sz="1800">
                <a:solidFill>
                  <a:srgbClr val="282828"/>
                </a:solidFill>
              </a:rPr>
              <a:t>Child guidance clinics provide assistance to the family in taking care of maladjusted children.</a:t>
            </a:r>
          </a:p>
          <a:p>
            <a:r>
              <a:rPr sz="1800">
                <a:solidFill>
                  <a:srgbClr val="282828"/>
                </a:solidFill>
              </a:rPr>
              <a:t>Children in need are provided with necessary care and services to develop them as an individual with optimum potentials.</a:t>
            </a:r>
          </a:p>
          <a:p>
            <a:r>
              <a:rPr sz="1800">
                <a:solidFill>
                  <a:srgbClr val="282828"/>
                </a:solidFill>
              </a:rPr>
              <a:t>Child guidance clinics work in coherence with other institutions catering to the needs of children like schools, hospitals, and recreational centers.</a:t>
            </a:r>
          </a:p>
          <a:p>
            <a:r>
              <a:rPr sz="1800">
                <a:solidFill>
                  <a:srgbClr val="282828"/>
                </a:solidFill>
              </a:rPr>
              <a:t>This collaborative work can result in effective treatment of children. Principles of Child Guidance Clinic (CGC)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006699"/>
                </a:solidFill>
              </a:rPr>
              <a:t>A Child Guidance Clinic is a specialized service that helps in the assessment, prevention, and management of behavioral, emotional, and developmental problems in children. The following are the main principles:</a:t>
            </a:r>
          </a:p>
        </p:txBody>
      </p:sp>
      <p:sp>
        <p:nvSpPr>
          <p:cNvPr id="3" name="Content Placeholder 2"/>
          <p:cNvSpPr>
            <a:spLocks noGrp="1"/>
          </p:cNvSpPr>
          <p:nvPr>
            <p:ph idx="1"/>
          </p:nvPr>
        </p:nvSpPr>
        <p:spPr/>
        <p:txBody>
          <a:bodyPr/>
          <a:lstStyle/>
          <a:p>
            <a:r>
              <a:rPr sz="1800" dirty="0">
                <a:solidFill>
                  <a:srgbClr val="282828"/>
                </a:solidFill>
              </a:rPr>
              <a:t>1. Holistic Approach</a:t>
            </a:r>
          </a:p>
          <a:p>
            <a:r>
              <a:rPr sz="1800" dirty="0">
                <a:solidFill>
                  <a:srgbClr val="282828"/>
                </a:solidFill>
              </a:rPr>
              <a:t>This principle means the child is treated as a whole person, not just focusing on one problem.</a:t>
            </a:r>
          </a:p>
          <a:p>
            <a:r>
              <a:rPr sz="1800" dirty="0">
                <a:solidFill>
                  <a:srgbClr val="282828"/>
                </a:solidFill>
              </a:rPr>
              <a:t>The clinic considers physical health, emotional state, social environment, family background, and school life.</a:t>
            </a:r>
          </a:p>
          <a:p>
            <a:r>
              <a:rPr sz="1800" dirty="0">
                <a:solidFill>
                  <a:srgbClr val="282828"/>
                </a:solidFill>
              </a:rPr>
              <a:t>2. Early Intervention</a:t>
            </a:r>
          </a:p>
          <a:p>
            <a:r>
              <a:rPr sz="1800" dirty="0">
                <a:solidFill>
                  <a:srgbClr val="282828"/>
                </a:solidFill>
              </a:rPr>
              <a:t>Early identification and treatment of </a:t>
            </a:r>
            <a:r>
              <a:rPr sz="1800" dirty="0" err="1">
                <a:solidFill>
                  <a:srgbClr val="282828"/>
                </a:solidFill>
              </a:rPr>
              <a:t>behavioural</a:t>
            </a:r>
            <a:r>
              <a:rPr sz="1800" dirty="0">
                <a:solidFill>
                  <a:srgbClr val="282828"/>
                </a:solidFill>
              </a:rPr>
              <a:t> or emotional problems help prevent serious complications later in life.</a:t>
            </a:r>
          </a:p>
          <a:p>
            <a:r>
              <a:rPr sz="1800" dirty="0">
                <a:solidFill>
                  <a:srgbClr val="282828"/>
                </a:solidFill>
              </a:rPr>
              <a:t>3. Child-Centered Care</a:t>
            </a:r>
          </a:p>
          <a:p>
            <a:r>
              <a:rPr sz="1800" dirty="0">
                <a:solidFill>
                  <a:srgbClr val="282828"/>
                </a:solidFill>
              </a:rPr>
              <a:t>The main focus is always on the needs and welfare of the child.</a:t>
            </a:r>
          </a:p>
          <a:p>
            <a:r>
              <a:rPr sz="1800" dirty="0">
                <a:solidFill>
                  <a:srgbClr val="282828"/>
                </a:solidFill>
              </a:rPr>
              <a:t>All decisions and treatment plans are designed to promote the child’s best development and well-being.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rgbClr val="006699"/>
                </a:solidFill>
              </a:rPr>
              <a:t>A Child Guidance Clinic is a specialized service that helps in the assessment, prevention, and management of behavioral, emotional, and developmental problems in children. The following are the main principles:</a:t>
            </a:r>
          </a:p>
        </p:txBody>
      </p:sp>
      <p:sp>
        <p:nvSpPr>
          <p:cNvPr id="3" name="Content Placeholder 2"/>
          <p:cNvSpPr>
            <a:spLocks noGrp="1"/>
          </p:cNvSpPr>
          <p:nvPr>
            <p:ph idx="1"/>
          </p:nvPr>
        </p:nvSpPr>
        <p:spPr/>
        <p:txBody>
          <a:bodyPr/>
          <a:lstStyle/>
          <a:p>
            <a:r>
              <a:rPr sz="1800">
                <a:solidFill>
                  <a:srgbClr val="282828"/>
                </a:solidFill>
              </a:rPr>
              <a:t>4.Family Involvement</a:t>
            </a:r>
          </a:p>
          <a:p>
            <a:r>
              <a:rPr sz="1800">
                <a:solidFill>
                  <a:srgbClr val="282828"/>
                </a:solidFill>
              </a:rPr>
              <a:t>Parents and family members play a major role in managing the child’s behavior.</a:t>
            </a:r>
          </a:p>
          <a:p>
            <a:r>
              <a:rPr sz="1800">
                <a:solidFill>
                  <a:srgbClr val="282828"/>
                </a:solidFill>
              </a:rPr>
              <a:t>The clinic provides parent counseling, guidance, and education so that parents can support the child effectively at home.</a:t>
            </a:r>
          </a:p>
          <a:p>
            <a:r>
              <a:rPr sz="1800">
                <a:solidFill>
                  <a:srgbClr val="282828"/>
                </a:solidFill>
              </a:rPr>
              <a:t>5. Multidisciplinary Teamwork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Child Guidance Clinics work with a team of professionals, such as:</a:t>
            </a:r>
          </a:p>
        </p:txBody>
      </p:sp>
      <p:sp>
        <p:nvSpPr>
          <p:cNvPr id="3" name="Content Placeholder 2"/>
          <p:cNvSpPr>
            <a:spLocks noGrp="1"/>
          </p:cNvSpPr>
          <p:nvPr>
            <p:ph idx="1"/>
          </p:nvPr>
        </p:nvSpPr>
        <p:spPr/>
        <p:txBody>
          <a:bodyPr/>
          <a:lstStyle/>
          <a:p>
            <a:r>
              <a:rPr sz="1800">
                <a:solidFill>
                  <a:srgbClr val="282828"/>
                </a:solidFill>
              </a:rPr>
              <a:t>Each professional contributes to the complete evaluation and treatment of the child.</a:t>
            </a:r>
          </a:p>
          <a:p>
            <a:r>
              <a:rPr sz="1800">
                <a:solidFill>
                  <a:srgbClr val="282828"/>
                </a:solidFill>
              </a:rPr>
              <a:t>Team Members of Child Guidance Clinic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CGC works with a multidisciplinary team approach:</a:t>
            </a:r>
          </a:p>
        </p:txBody>
      </p:sp>
      <p:sp>
        <p:nvSpPr>
          <p:cNvPr id="3" name="Content Placeholder 2"/>
          <p:cNvSpPr>
            <a:spLocks noGrp="1"/>
          </p:cNvSpPr>
          <p:nvPr>
            <p:ph idx="1"/>
          </p:nvPr>
        </p:nvSpPr>
        <p:spPr/>
        <p:txBody>
          <a:bodyPr/>
          <a:lstStyle/>
          <a:p>
            <a:r>
              <a:rPr sz="1800">
                <a:solidFill>
                  <a:srgbClr val="282828"/>
                </a:solidFill>
              </a:rPr>
              <a:t>6. Confidentiality and Ethics</a:t>
            </a:r>
          </a:p>
          <a:p>
            <a:r>
              <a:rPr sz="1800">
                <a:solidFill>
                  <a:srgbClr val="282828"/>
                </a:solidFill>
              </a:rPr>
              <a:t>All information about the child and family must be kept private and confidential.</a:t>
            </a:r>
          </a:p>
          <a:p>
            <a:r>
              <a:rPr sz="1800">
                <a:solidFill>
                  <a:srgbClr val="282828"/>
                </a:solidFill>
              </a:rPr>
              <a:t>Professionals follow ethical principles and respect the dignity and rights of the child and family.</a:t>
            </a:r>
          </a:p>
          <a:p>
            <a:r>
              <a:rPr sz="1800">
                <a:solidFill>
                  <a:srgbClr val="282828"/>
                </a:solidFill>
              </a:rPr>
              <a:t>7. Individualized Care Plan</a:t>
            </a:r>
          </a:p>
          <a:p>
            <a:r>
              <a:rPr sz="1800">
                <a:solidFill>
                  <a:srgbClr val="282828"/>
                </a:solidFill>
              </a:rPr>
              <a:t>Each child is unique; therefore, treatment should be tailored according to the child’s specific needs, abilities, and problems.</a:t>
            </a:r>
          </a:p>
          <a:p>
            <a:r>
              <a:rPr sz="1800">
                <a:solidFill>
                  <a:srgbClr val="282828"/>
                </a:solidFill>
              </a:rPr>
              <a:t>8. Prevention-Oriented Approach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The clinic focuses not only on treatment but also on preventing behavioral and emotional problems through:</a:t>
            </a:r>
          </a:p>
        </p:txBody>
      </p:sp>
      <p:sp>
        <p:nvSpPr>
          <p:cNvPr id="3" name="Content Placeholder 2"/>
          <p:cNvSpPr>
            <a:spLocks noGrp="1"/>
          </p:cNvSpPr>
          <p:nvPr>
            <p:ph idx="1"/>
          </p:nvPr>
        </p:nvSpPr>
        <p:spPr/>
        <p:txBody>
          <a:bodyPr/>
          <a:lstStyle/>
          <a:p>
            <a:r>
              <a:rPr sz="1800">
                <a:solidFill>
                  <a:srgbClr val="282828"/>
                </a:solidFill>
              </a:rPr>
              <a:t>Early screening</a:t>
            </a:r>
          </a:p>
          <a:p>
            <a:r>
              <a:rPr sz="1800">
                <a:solidFill>
                  <a:srgbClr val="282828"/>
                </a:solidFill>
              </a:rPr>
              <a:t>Parent education</a:t>
            </a:r>
          </a:p>
          <a:p>
            <a:r>
              <a:rPr sz="1800">
                <a:solidFill>
                  <a:srgbClr val="282828"/>
                </a:solidFill>
              </a:rPr>
              <a:t>School guidance</a:t>
            </a:r>
          </a:p>
          <a:p>
            <a:r>
              <a:rPr sz="1800">
                <a:solidFill>
                  <a:srgbClr val="282828"/>
                </a:solidFill>
              </a:rPr>
              <a:t>Community awareness</a:t>
            </a:r>
          </a:p>
          <a:p>
            <a:r>
              <a:rPr sz="1800">
                <a:solidFill>
                  <a:srgbClr val="282828"/>
                </a:solidFill>
              </a:rPr>
              <a:t>9. Cultural Sensitivity</a:t>
            </a:r>
          </a:p>
          <a:p>
            <a:r>
              <a:rPr sz="1800">
                <a:solidFill>
                  <a:srgbClr val="282828"/>
                </a:solidFill>
              </a:rPr>
              <a:t>Care and counseling should respect the child’s cultural, social, and religious background.</a:t>
            </a:r>
          </a:p>
          <a:p>
            <a:r>
              <a:rPr sz="1800">
                <a:solidFill>
                  <a:srgbClr val="282828"/>
                </a:solidFill>
              </a:rPr>
              <a:t>Understanding cultural beliefs helps professionals give appropriate guidance to the family. Diagnostic and Assessment</a:t>
            </a:r>
          </a:p>
          <a:p>
            <a:r>
              <a:rPr sz="1800">
                <a:solidFill>
                  <a:srgbClr val="282828"/>
                </a:solidFill>
              </a:rPr>
              <a:t>Common Problems Managed in Child Guidance Clinic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The clinic focuses not only on treatment but also on preventing behavioral and emotional problems through:</a:t>
            </a:r>
          </a:p>
        </p:txBody>
      </p:sp>
      <p:sp>
        <p:nvSpPr>
          <p:cNvPr id="3" name="Content Placeholder 2"/>
          <p:cNvSpPr>
            <a:spLocks noGrp="1"/>
          </p:cNvSpPr>
          <p:nvPr>
            <p:ph idx="1"/>
          </p:nvPr>
        </p:nvSpPr>
        <p:spPr/>
        <p:txBody>
          <a:bodyPr/>
          <a:lstStyle/>
          <a:p>
            <a:r>
              <a:rPr sz="1800">
                <a:solidFill>
                  <a:srgbClr val="282828"/>
                </a:solidFill>
              </a:rPr>
              <a:t>School refusal or truancy</a:t>
            </a:r>
          </a:p>
          <a:p>
            <a:r>
              <a:rPr sz="1800">
                <a:solidFill>
                  <a:srgbClr val="282828"/>
                </a:solidFill>
              </a:rPr>
              <a:t>Temper tantrums, aggression</a:t>
            </a:r>
          </a:p>
          <a:p>
            <a:r>
              <a:rPr sz="1800">
                <a:solidFill>
                  <a:srgbClr val="282828"/>
                </a:solidFill>
              </a:rPr>
              <a:t>Bed wetting (Enuresis)</a:t>
            </a:r>
          </a:p>
          <a:p>
            <a:r>
              <a:rPr sz="1800">
                <a:solidFill>
                  <a:srgbClr val="282828"/>
                </a:solidFill>
              </a:rPr>
              <a:t>Speech delay or stammering</a:t>
            </a:r>
          </a:p>
          <a:p>
            <a:r>
              <a:rPr sz="1800">
                <a:solidFill>
                  <a:srgbClr val="282828"/>
                </a:solidFill>
              </a:rPr>
              <a:t>Learning difficulties (Dyslexia)</a:t>
            </a:r>
          </a:p>
          <a:p>
            <a:r>
              <a:rPr sz="1800">
                <a:solidFill>
                  <a:srgbClr val="282828"/>
                </a:solidFill>
              </a:rPr>
              <a:t>Depression, anxiety</a:t>
            </a:r>
          </a:p>
          <a:p>
            <a:r>
              <a:rPr sz="1800">
                <a:solidFill>
                  <a:srgbClr val="282828"/>
                </a:solidFill>
              </a:rPr>
              <a:t>Attention Deficit Hyperactivity Disorder (ADHD)</a:t>
            </a:r>
          </a:p>
          <a:p>
            <a:r>
              <a:rPr sz="1800">
                <a:solidFill>
                  <a:srgbClr val="282828"/>
                </a:solidFill>
              </a:rPr>
              <a:t>Autism Spectrum Disorders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The clinic focuses not only on treatment but also on preventing behavioral and emotional problems through:</a:t>
            </a:r>
          </a:p>
        </p:txBody>
      </p:sp>
      <p:sp>
        <p:nvSpPr>
          <p:cNvPr id="3" name="Content Placeholder 2"/>
          <p:cNvSpPr>
            <a:spLocks noGrp="1"/>
          </p:cNvSpPr>
          <p:nvPr>
            <p:ph idx="1"/>
          </p:nvPr>
        </p:nvSpPr>
        <p:spPr/>
        <p:txBody>
          <a:bodyPr/>
          <a:lstStyle/>
          <a:p>
            <a:r>
              <a:rPr sz="1800">
                <a:solidFill>
                  <a:srgbClr val="282828"/>
                </a:solidFill>
              </a:rPr>
              <a:t>Conduct disorders</a:t>
            </a:r>
          </a:p>
          <a:p>
            <a:r>
              <a:rPr sz="1800">
                <a:solidFill>
                  <a:srgbClr val="282828"/>
                </a:solidFill>
              </a:rPr>
              <a:t>Emotional problems due to family issues (divorce, loss, neglect)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SERVICES PROVIDED BY CHILD GUIDANCE CLINIC</a:t>
            </a:r>
          </a:p>
        </p:txBody>
      </p:sp>
      <p:sp>
        <p:nvSpPr>
          <p:cNvPr id="3" name="Content Placeholder 2"/>
          <p:cNvSpPr>
            <a:spLocks noGrp="1"/>
          </p:cNvSpPr>
          <p:nvPr>
            <p:ph idx="1"/>
          </p:nvPr>
        </p:nvSpPr>
        <p:spPr/>
        <p:txBody>
          <a:bodyPr/>
          <a:lstStyle/>
          <a:p>
            <a:r>
              <a:rPr sz="1800">
                <a:solidFill>
                  <a:srgbClr val="282828"/>
                </a:solidFill>
              </a:rPr>
              <a:t>1.Psychological assessment (IQ test, personality test, behavioral assessment)</a:t>
            </a:r>
          </a:p>
          <a:p>
            <a:r>
              <a:rPr sz="1800">
                <a:solidFill>
                  <a:srgbClr val="282828"/>
                </a:solidFill>
              </a:rPr>
              <a:t>Developmental assessment</a:t>
            </a:r>
          </a:p>
          <a:p>
            <a:r>
              <a:rPr sz="1800">
                <a:solidFill>
                  <a:srgbClr val="282828"/>
                </a:solidFill>
              </a:rPr>
              <a:t>Learning disability assessment</a:t>
            </a:r>
          </a:p>
          <a:p>
            <a:r>
              <a:rPr sz="1800">
                <a:solidFill>
                  <a:srgbClr val="282828"/>
                </a:solidFill>
              </a:rPr>
              <a:t>Emotional and behavioral evaluation</a:t>
            </a:r>
          </a:p>
          <a:p>
            <a:r>
              <a:rPr sz="1800">
                <a:solidFill>
                  <a:srgbClr val="282828"/>
                </a:solidFill>
              </a:rPr>
              <a:t>Speech and language evaluation</a:t>
            </a:r>
          </a:p>
          <a:p>
            <a:r>
              <a:rPr sz="1800">
                <a:solidFill>
                  <a:srgbClr val="282828"/>
                </a:solidFill>
              </a:rPr>
              <a:t>Neurological and physical examination</a:t>
            </a:r>
          </a:p>
          <a:p>
            <a:r>
              <a:rPr sz="1800">
                <a:solidFill>
                  <a:srgbClr val="282828"/>
                </a:solidFill>
              </a:rPr>
              <a:t>These assessments help identify the child’s problem accurately.</a:t>
            </a:r>
          </a:p>
          <a:p>
            <a:r>
              <a:rPr sz="1800">
                <a:solidFill>
                  <a:srgbClr val="282828"/>
                </a:solidFill>
              </a:rPr>
              <a:t>2. Counseling Services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SERVICES PROVIDED BY CHILD GUIDANCE CLINIC</a:t>
            </a:r>
          </a:p>
        </p:txBody>
      </p:sp>
      <p:sp>
        <p:nvSpPr>
          <p:cNvPr id="3" name="Content Placeholder 2"/>
          <p:cNvSpPr>
            <a:spLocks noGrp="1"/>
          </p:cNvSpPr>
          <p:nvPr>
            <p:ph idx="1"/>
          </p:nvPr>
        </p:nvSpPr>
        <p:spPr/>
        <p:txBody>
          <a:bodyPr/>
          <a:lstStyle/>
          <a:p>
            <a:r>
              <a:rPr sz="1800">
                <a:solidFill>
                  <a:srgbClr val="282828"/>
                </a:solidFill>
              </a:rPr>
              <a:t>Individual counseling for the child</a:t>
            </a:r>
          </a:p>
          <a:p>
            <a:r>
              <a:rPr sz="1800">
                <a:solidFill>
                  <a:srgbClr val="282828"/>
                </a:solidFill>
              </a:rPr>
              <a:t>Parent counseling and guidance</a:t>
            </a:r>
          </a:p>
          <a:p>
            <a:r>
              <a:rPr sz="1800">
                <a:solidFill>
                  <a:srgbClr val="282828"/>
                </a:solidFill>
              </a:rPr>
              <a:t>Family counseling</a:t>
            </a:r>
          </a:p>
          <a:p>
            <a:r>
              <a:rPr sz="1800">
                <a:solidFill>
                  <a:srgbClr val="282828"/>
                </a:solidFill>
              </a:rPr>
              <a:t>School adjustment counseling</a:t>
            </a:r>
          </a:p>
          <a:p>
            <a:r>
              <a:rPr sz="1800">
                <a:solidFill>
                  <a:srgbClr val="282828"/>
                </a:solidFill>
              </a:rPr>
              <a:t>Counseling for anxiety, fear, stress, and emotional problems �</a:t>
            </a:r>
          </a:p>
          <a:p>
            <a:r>
              <a:rPr sz="1800">
                <a:solidFill>
                  <a:srgbClr val="282828"/>
                </a:solidFill>
              </a:rPr>
              <a:t>childguidance.ashahospital.org</a:t>
            </a:r>
          </a:p>
          <a:p>
            <a:r>
              <a:rPr sz="1800">
                <a:solidFill>
                  <a:srgbClr val="282828"/>
                </a:solidFill>
              </a:rPr>
              <a:t>3. Therapeutic Services</a:t>
            </a:r>
          </a:p>
          <a:p>
            <a:r>
              <a:rPr sz="1800">
                <a:solidFill>
                  <a:srgbClr val="282828"/>
                </a:solidFill>
              </a:rPr>
              <a:t>Behavior therapy,Play therapy,Cognitive behavioral therapy (CBT),Psychotherapy,Social skills training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SERVICES PROVIDED BY CHILD GUIDANCE CLINIC</a:t>
            </a:r>
          </a:p>
        </p:txBody>
      </p:sp>
      <p:sp>
        <p:nvSpPr>
          <p:cNvPr id="3" name="Content Placeholder 2"/>
          <p:cNvSpPr>
            <a:spLocks noGrp="1"/>
          </p:cNvSpPr>
          <p:nvPr>
            <p:ph idx="1"/>
          </p:nvPr>
        </p:nvSpPr>
        <p:spPr/>
        <p:txBody>
          <a:bodyPr/>
          <a:lstStyle/>
          <a:p>
            <a:r>
              <a:rPr sz="1800">
                <a:solidFill>
                  <a:srgbClr val="282828"/>
                </a:solidFill>
              </a:rPr>
              <a:t>Family therapy</a:t>
            </a:r>
          </a:p>
          <a:p>
            <a:r>
              <a:rPr sz="1800">
                <a:solidFill>
                  <a:srgbClr val="282828"/>
                </a:solidFill>
              </a:rPr>
              <a:t>Art or music therapy in some centers</a:t>
            </a:r>
          </a:p>
          <a:p>
            <a:r>
              <a:rPr sz="1800">
                <a:solidFill>
                  <a:srgbClr val="282828"/>
                </a:solidFill>
              </a:rPr>
              <a:t>4. Medical Treatment</a:t>
            </a:r>
          </a:p>
          <a:p>
            <a:r>
              <a:rPr sz="1800">
                <a:solidFill>
                  <a:srgbClr val="282828"/>
                </a:solidFill>
              </a:rPr>
              <a:t>Psychiatric consultation</a:t>
            </a:r>
          </a:p>
          <a:p>
            <a:r>
              <a:rPr sz="1800">
                <a:solidFill>
                  <a:srgbClr val="282828"/>
                </a:solidFill>
              </a:rPr>
              <a:t>Prescription of medications when necessary (pharmacotherapy)</a:t>
            </a:r>
          </a:p>
          <a:p>
            <a:r>
              <a:rPr sz="1800">
                <a:solidFill>
                  <a:srgbClr val="282828"/>
                </a:solidFill>
              </a:rPr>
              <a:t>Follow-up monitoring of treatment progress</a:t>
            </a:r>
          </a:p>
          <a:p>
            <a:r>
              <a:rPr sz="1800">
                <a:solidFill>
                  <a:srgbClr val="282828"/>
                </a:solidFill>
              </a:rPr>
              <a:t>5. Educational and Remedial Services</a:t>
            </a:r>
          </a:p>
          <a:p>
            <a:r>
              <a:rPr sz="1800">
                <a:solidFill>
                  <a:srgbClr val="282828"/>
                </a:solidFill>
              </a:rPr>
              <a:t>Remedial teaching for learning difficulties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SERVICES PROVIDED BY CHILD GUIDANCE CLINIC</a:t>
            </a:r>
          </a:p>
        </p:txBody>
      </p:sp>
      <p:sp>
        <p:nvSpPr>
          <p:cNvPr id="3" name="Content Placeholder 2"/>
          <p:cNvSpPr>
            <a:spLocks noGrp="1"/>
          </p:cNvSpPr>
          <p:nvPr>
            <p:ph idx="1"/>
          </p:nvPr>
        </p:nvSpPr>
        <p:spPr/>
        <p:txBody>
          <a:bodyPr/>
          <a:lstStyle/>
          <a:p>
            <a:r>
              <a:rPr sz="1800">
                <a:solidFill>
                  <a:srgbClr val="282828"/>
                </a:solidFill>
              </a:rPr>
              <a:t>Special education programs</a:t>
            </a:r>
          </a:p>
          <a:p>
            <a:r>
              <a:rPr sz="1800">
                <a:solidFill>
                  <a:srgbClr val="282828"/>
                </a:solidFill>
              </a:rPr>
              <a:t>Individualized education plans (IEP)</a:t>
            </a:r>
          </a:p>
          <a:p>
            <a:r>
              <a:rPr sz="1800">
                <a:solidFill>
                  <a:srgbClr val="282828"/>
                </a:solidFill>
              </a:rPr>
              <a:t>Academic support for scholastic backwardness</a:t>
            </a:r>
          </a:p>
          <a:p>
            <a:r>
              <a:rPr sz="1800">
                <a:solidFill>
                  <a:srgbClr val="282828"/>
                </a:solidFill>
              </a:rPr>
              <a:t>6. Rehabilitation and Training</a:t>
            </a:r>
          </a:p>
          <a:p>
            <a:r>
              <a:rPr sz="1800">
                <a:solidFill>
                  <a:srgbClr val="282828"/>
                </a:solidFill>
              </a:rPr>
              <a:t>Occupational therapy</a:t>
            </a:r>
          </a:p>
          <a:p>
            <a:r>
              <a:rPr sz="1800">
                <a:solidFill>
                  <a:srgbClr val="282828"/>
                </a:solidFill>
              </a:rPr>
              <a:t>Speech and language therapy</a:t>
            </a:r>
          </a:p>
          <a:p>
            <a:r>
              <a:rPr sz="1800">
                <a:solidFill>
                  <a:srgbClr val="282828"/>
                </a:solidFill>
              </a:rPr>
              <a:t>Sensory integration therapy</a:t>
            </a:r>
          </a:p>
          <a:p>
            <a:r>
              <a:rPr sz="1800">
                <a:solidFill>
                  <a:srgbClr val="282828"/>
                </a:solidFill>
              </a:rPr>
              <a:t>Skill training and developmental therapy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SERVICES PROVIDED BY CHILD GUIDANCE CLINIC</a:t>
            </a:r>
          </a:p>
        </p:txBody>
      </p:sp>
      <p:sp>
        <p:nvSpPr>
          <p:cNvPr id="3" name="Content Placeholder 2"/>
          <p:cNvSpPr>
            <a:spLocks noGrp="1"/>
          </p:cNvSpPr>
          <p:nvPr>
            <p:ph idx="1"/>
          </p:nvPr>
        </p:nvSpPr>
        <p:spPr/>
        <p:txBody>
          <a:bodyPr/>
          <a:lstStyle/>
          <a:p>
            <a:r>
              <a:rPr sz="1800">
                <a:solidFill>
                  <a:srgbClr val="282828"/>
                </a:solidFill>
              </a:rPr>
              <a:t>7. Parent Education and Guidance</a:t>
            </a:r>
          </a:p>
          <a:p>
            <a:r>
              <a:rPr sz="1800">
                <a:solidFill>
                  <a:srgbClr val="282828"/>
                </a:solidFill>
              </a:rPr>
              <a:t>Parenting skills training</a:t>
            </a:r>
          </a:p>
          <a:p>
            <a:r>
              <a:rPr sz="1800">
                <a:solidFill>
                  <a:srgbClr val="282828"/>
                </a:solidFill>
              </a:rPr>
              <a:t>Guidance on child behavior management</a:t>
            </a:r>
          </a:p>
          <a:p>
            <a:r>
              <a:rPr sz="1800">
                <a:solidFill>
                  <a:srgbClr val="282828"/>
                </a:solidFill>
              </a:rPr>
              <a:t>Advice on home environment and discipline</a:t>
            </a:r>
          </a:p>
          <a:p>
            <a:r>
              <a:rPr sz="1800">
                <a:solidFill>
                  <a:srgbClr val="282828"/>
                </a:solidFill>
              </a:rPr>
              <a:t>Support groups for parents</a:t>
            </a:r>
          </a:p>
          <a:p>
            <a:r>
              <a:rPr sz="1800">
                <a:solidFill>
                  <a:srgbClr val="282828"/>
                </a:solidFill>
              </a:rPr>
              <a:t>8. Referral and Follow-up Services</a:t>
            </a:r>
          </a:p>
          <a:p>
            <a:r>
              <a:rPr sz="1800">
                <a:solidFill>
                  <a:srgbClr val="282828"/>
                </a:solidFill>
              </a:rPr>
              <a:t>Referral to schools, hospitals, or specialists</a:t>
            </a:r>
          </a:p>
          <a:p>
            <a:r>
              <a:rPr sz="1800">
                <a:solidFill>
                  <a:srgbClr val="282828"/>
                </a:solidFill>
              </a:rPr>
              <a:t>Coordination with teachers and social workers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SERVICES PROVIDED BY CHILD GUIDANCE CLINIC</a:t>
            </a:r>
          </a:p>
        </p:txBody>
      </p:sp>
      <p:sp>
        <p:nvSpPr>
          <p:cNvPr id="3" name="Content Placeholder 2"/>
          <p:cNvSpPr>
            <a:spLocks noGrp="1"/>
          </p:cNvSpPr>
          <p:nvPr>
            <p:ph idx="1"/>
          </p:nvPr>
        </p:nvSpPr>
        <p:spPr/>
        <p:txBody>
          <a:bodyPr/>
          <a:lstStyle/>
          <a:p>
            <a:r>
              <a:rPr sz="1800">
                <a:solidFill>
                  <a:srgbClr val="282828"/>
                </a:solidFill>
              </a:rPr>
              <a:t>Regular follow-up to evaluate improvement</a:t>
            </a:r>
          </a:p>
          <a:p>
            <a:r>
              <a:rPr sz="1800">
                <a:solidFill>
                  <a:srgbClr val="282828"/>
                </a:solidFill>
              </a:rPr>
              <a:t>Treatment</a:t>
            </a:r>
          </a:p>
          <a:p>
            <a:r>
              <a:rPr sz="1800">
                <a:solidFill>
                  <a:srgbClr val="282828"/>
                </a:solidFill>
              </a:rPr>
              <a:t>Child Guidance Clinics provide treatment for children with behavioral, emotional, and psychological problems. Treatment usually focuses on both the child and the family environment, because a child’s behavior is strongly influenced by family members and home atmosphere. Two types of treatment provided --</a:t>
            </a:r>
          </a:p>
          <a:p>
            <a:r>
              <a:rPr sz="1800">
                <a:solidFill>
                  <a:srgbClr val="282828"/>
                </a:solidFill>
              </a:rPr>
              <a:t>Treatment of the Child Himself</a:t>
            </a:r>
          </a:p>
          <a:p>
            <a:r>
              <a:rPr sz="1800">
                <a:solidFill>
                  <a:srgbClr val="282828"/>
                </a:solidFill>
              </a:rPr>
              <a:t>Family Attitude as a Focus of Treatment</a:t>
            </a:r>
          </a:p>
          <a:p>
            <a:r>
              <a:rPr sz="1800">
                <a:solidFill>
                  <a:srgbClr val="282828"/>
                </a:solidFill>
              </a:rPr>
              <a:t>Treatment of the Child himself</a:t>
            </a:r>
          </a:p>
          <a:p>
            <a:r>
              <a:rPr sz="1800">
                <a:solidFill>
                  <a:srgbClr val="282828"/>
                </a:solidFill>
              </a:rPr>
              <a:t>This treatment is directed specifically at the child’s emotional and behavioral problems.</a:t>
            </a:r>
          </a:p>
          <a:p>
            <a:r>
              <a:rPr sz="1800">
                <a:solidFill>
                  <a:srgbClr val="282828"/>
                </a:solidFill>
              </a:rPr>
              <a:t>The child is first assessed by specialists such as a psychiatrist, psychologist, pediatrician, and social worker.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SERVICES PROVIDED BY CHILD GUIDANCE CLINIC</a:t>
            </a:r>
          </a:p>
        </p:txBody>
      </p:sp>
      <p:sp>
        <p:nvSpPr>
          <p:cNvPr id="3" name="Content Placeholder 2"/>
          <p:cNvSpPr>
            <a:spLocks noGrp="1"/>
          </p:cNvSpPr>
          <p:nvPr>
            <p:ph idx="1"/>
          </p:nvPr>
        </p:nvSpPr>
        <p:spPr/>
        <p:txBody>
          <a:bodyPr/>
          <a:lstStyle/>
          <a:p>
            <a:r>
              <a:rPr sz="1800">
                <a:solidFill>
                  <a:srgbClr val="282828"/>
                </a:solidFill>
              </a:rPr>
              <a:t>After identifying the problem, suitable therapeutic methods are used to help the child adjust and improve behavior.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Aim:</a:t>
            </a:r>
          </a:p>
        </p:txBody>
      </p:sp>
      <p:sp>
        <p:nvSpPr>
          <p:cNvPr id="3" name="Content Placeholder 2"/>
          <p:cNvSpPr>
            <a:spLocks noGrp="1"/>
          </p:cNvSpPr>
          <p:nvPr>
            <p:ph idx="1"/>
          </p:nvPr>
        </p:nvSpPr>
        <p:spPr/>
        <p:txBody>
          <a:bodyPr/>
          <a:lstStyle/>
          <a:p>
            <a:r>
              <a:rPr sz="1800">
                <a:solidFill>
                  <a:srgbClr val="282828"/>
                </a:solidFill>
              </a:rPr>
              <a:t>To improve the child’s emotional stability, behavior, social adjustment, and personality development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Common treatment methods:</a:t>
            </a:r>
          </a:p>
        </p:txBody>
      </p:sp>
      <p:sp>
        <p:nvSpPr>
          <p:cNvPr id="3" name="Content Placeholder 2"/>
          <p:cNvSpPr>
            <a:spLocks noGrp="1"/>
          </p:cNvSpPr>
          <p:nvPr>
            <p:ph idx="1"/>
          </p:nvPr>
        </p:nvSpPr>
        <p:spPr/>
        <p:txBody>
          <a:bodyPr/>
          <a:lstStyle/>
          <a:p>
            <a:r>
              <a:rPr sz="1800">
                <a:solidFill>
                  <a:srgbClr val="282828"/>
                </a:solidFill>
              </a:rPr>
              <a:t>Play therapy: Children express their feelings and fears through toys, drawing, and games.</a:t>
            </a:r>
          </a:p>
          <a:p>
            <a:r>
              <a:rPr sz="1800">
                <a:solidFill>
                  <a:srgbClr val="282828"/>
                </a:solidFill>
              </a:rPr>
              <a:t>Behavior therapy: Helps modify unwanted behaviors such as aggression, thumb sucking, bed-wetting, or temper tantrums.</a:t>
            </a:r>
          </a:p>
          <a:p>
            <a:r>
              <a:rPr sz="1800">
                <a:solidFill>
                  <a:srgbClr val="282828"/>
                </a:solidFill>
              </a:rPr>
              <a:t>Counseling: The child is encouraged to talk about fears, anxiety, or emotional conflicts.</a:t>
            </a:r>
          </a:p>
          <a:p>
            <a:r>
              <a:rPr sz="1800">
                <a:solidFill>
                  <a:srgbClr val="282828"/>
                </a:solidFill>
              </a:rPr>
              <a:t>Educational guidance: Helps children who have learning difficulties or school adjustment problems.</a:t>
            </a:r>
          </a:p>
          <a:p>
            <a:r>
              <a:rPr sz="1800">
                <a:solidFill>
                  <a:srgbClr val="282828"/>
                </a:solidFill>
              </a:rPr>
              <a:t>Medical treatment: If needed, medication may be prescribed for conditions like severe anxiety, ADHD, or emotional disorders.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Aim:</a:t>
            </a:r>
          </a:p>
        </p:txBody>
      </p:sp>
      <p:sp>
        <p:nvSpPr>
          <p:cNvPr id="3" name="Content Placeholder 2"/>
          <p:cNvSpPr>
            <a:spLocks noGrp="1"/>
          </p:cNvSpPr>
          <p:nvPr>
            <p:ph idx="1"/>
          </p:nvPr>
        </p:nvSpPr>
        <p:spPr/>
        <p:txBody>
          <a:bodyPr/>
          <a:lstStyle/>
          <a:p>
            <a:r>
              <a:rPr sz="1800">
                <a:solidFill>
                  <a:srgbClr val="282828"/>
                </a:solidFill>
              </a:rPr>
              <a:t>To improve the child’s emotional stability, behavior, social adjustment, and personality development.</a:t>
            </a:r>
          </a:p>
          <a:p>
            <a:r>
              <a:rPr sz="1800">
                <a:solidFill>
                  <a:srgbClr val="282828"/>
                </a:solidFill>
              </a:rPr>
              <a:t>2. Family Attitude as a Focus of Treatment</a:t>
            </a:r>
          </a:p>
          <a:p>
            <a:r>
              <a:rPr sz="1800">
                <a:solidFill>
                  <a:srgbClr val="282828"/>
                </a:solidFill>
              </a:rPr>
              <a:t>Many child behavioral problems arise due to family environment, parenting style, or family conflicts. Therefore, treatment also focuses on changing the attitudes and behaviors of parents and family members.Parents are given guidance and counseling about proper child-rearing practices.</a:t>
            </a:r>
          </a:p>
          <a:p>
            <a:r>
              <a:rPr sz="1800">
                <a:solidFill>
                  <a:srgbClr val="282828"/>
                </a:solidFill>
              </a:rPr>
              <a:t>The clinic helps parents understand the child’s needs, emotions, and developmental stages.</a:t>
            </a:r>
          </a:p>
          <a:p>
            <a:r>
              <a:rPr sz="1800">
                <a:solidFill>
                  <a:srgbClr val="282828"/>
                </a:solidFill>
              </a:rPr>
              <a:t>Family members are taught how to respond calmly and positively to the child’s behavior.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Aim:</a:t>
            </a:r>
          </a:p>
        </p:txBody>
      </p:sp>
      <p:sp>
        <p:nvSpPr>
          <p:cNvPr id="3" name="Content Placeholder 2"/>
          <p:cNvSpPr>
            <a:spLocks noGrp="1"/>
          </p:cNvSpPr>
          <p:nvPr>
            <p:ph idx="1"/>
          </p:nvPr>
        </p:nvSpPr>
        <p:spPr/>
        <p:txBody>
          <a:bodyPr/>
          <a:lstStyle/>
          <a:p>
            <a:r>
              <a:rPr sz="1800">
                <a:solidFill>
                  <a:srgbClr val="282828"/>
                </a:solidFill>
              </a:rPr>
              <a:t>To create a positive family environment that supports the child’s healthy psychological development and prevents recurrence of behavioral problems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Interventions include:</a:t>
            </a:r>
          </a:p>
        </p:txBody>
      </p:sp>
      <p:sp>
        <p:nvSpPr>
          <p:cNvPr id="3" name="Content Placeholder 2"/>
          <p:cNvSpPr>
            <a:spLocks noGrp="1"/>
          </p:cNvSpPr>
          <p:nvPr>
            <p:ph idx="1"/>
          </p:nvPr>
        </p:nvSpPr>
        <p:spPr/>
        <p:txBody>
          <a:bodyPr/>
          <a:lstStyle/>
          <a:p>
            <a:r>
              <a:rPr sz="1800">
                <a:solidFill>
                  <a:srgbClr val="282828"/>
                </a:solidFill>
              </a:rPr>
              <a:t>Parent counseling: Advising parents about discipline, communication, and emotional support.</a:t>
            </a:r>
          </a:p>
          <a:p>
            <a:r>
              <a:rPr sz="1800">
                <a:solidFill>
                  <a:srgbClr val="282828"/>
                </a:solidFill>
              </a:rPr>
              <a:t>Family therapy: Resolving family conflicts that affect the child.</a:t>
            </a:r>
          </a:p>
          <a:p>
            <a:r>
              <a:rPr sz="1800">
                <a:solidFill>
                  <a:srgbClr val="282828"/>
                </a:solidFill>
              </a:rPr>
              <a:t>Parental education: Teaching healthy parenting practices and improving parent-child relationships.</a:t>
            </a:r>
          </a:p>
          <a:p>
            <a:r>
              <a:rPr sz="1800">
                <a:solidFill>
                  <a:srgbClr val="282828"/>
                </a:solidFill>
              </a:rPr>
              <a:t>Home environment modification: Encouraging a supportive, loving, and stable home atmosphere.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.IMPORTANCE OF CHILD GUIDANCE CLINIC</a:t>
            </a:r>
          </a:p>
        </p:txBody>
      </p:sp>
      <p:sp>
        <p:nvSpPr>
          <p:cNvPr id="3" name="Content Placeholder 2"/>
          <p:cNvSpPr>
            <a:spLocks noGrp="1"/>
          </p:cNvSpPr>
          <p:nvPr>
            <p:ph idx="1"/>
          </p:nvPr>
        </p:nvSpPr>
        <p:spPr/>
        <p:txBody>
          <a:bodyPr/>
          <a:lstStyle/>
          <a:p>
            <a:r>
              <a:rPr sz="1800">
                <a:solidFill>
                  <a:srgbClr val="282828"/>
                </a:solidFill>
              </a:rPr>
              <a:t>Early identification of behavioral and emotional problems.</a:t>
            </a:r>
          </a:p>
          <a:p>
            <a:r>
              <a:rPr sz="1800">
                <a:solidFill>
                  <a:srgbClr val="282828"/>
                </a:solidFill>
              </a:rPr>
              <a:t>Prevention of mental and behavioral disorders.</a:t>
            </a:r>
          </a:p>
          <a:p>
            <a:r>
              <a:rPr sz="1800">
                <a:solidFill>
                  <a:srgbClr val="282828"/>
                </a:solidFill>
              </a:rPr>
              <a:t>Provides proper diagnosis and treatment.</a:t>
            </a:r>
          </a:p>
          <a:p>
            <a:r>
              <a:rPr sz="1800">
                <a:solidFill>
                  <a:srgbClr val="282828"/>
                </a:solidFill>
              </a:rPr>
              <a:t>Improves child’s emotional and mental health.</a:t>
            </a:r>
          </a:p>
          <a:p>
            <a:r>
              <a:rPr sz="1800">
                <a:solidFill>
                  <a:srgbClr val="282828"/>
                </a:solidFill>
              </a:rPr>
              <a:t>Helps children with learning and academic problems.</a:t>
            </a:r>
          </a:p>
          <a:p>
            <a:r>
              <a:rPr sz="1800">
                <a:solidFill>
                  <a:srgbClr val="282828"/>
                </a:solidFill>
              </a:rPr>
              <a:t>Provides guidance to parents and teachers.</a:t>
            </a:r>
          </a:p>
          <a:p>
            <a:r>
              <a:rPr sz="1800">
                <a:solidFill>
                  <a:srgbClr val="282828"/>
                </a:solidFill>
              </a:rPr>
              <a:t>Promotes healthy personality development.</a:t>
            </a:r>
          </a:p>
          <a:p>
            <a:r>
              <a:rPr sz="1800">
                <a:solidFill>
                  <a:srgbClr val="282828"/>
                </a:solidFill>
              </a:rPr>
              <a:t>Limitations of Child Guidance Clinic (CGC)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.IMPORTANCE OF CHILD GUIDANCE CLINIC</a:t>
            </a:r>
          </a:p>
        </p:txBody>
      </p:sp>
      <p:sp>
        <p:nvSpPr>
          <p:cNvPr id="3" name="Content Placeholder 2"/>
          <p:cNvSpPr>
            <a:spLocks noGrp="1"/>
          </p:cNvSpPr>
          <p:nvPr>
            <p:ph idx="1"/>
          </p:nvPr>
        </p:nvSpPr>
        <p:spPr/>
        <p:txBody>
          <a:bodyPr/>
          <a:lstStyle/>
          <a:p>
            <a:r>
              <a:rPr sz="1800">
                <a:solidFill>
                  <a:srgbClr val="282828"/>
                </a:solidFill>
              </a:rPr>
              <a:t>Child Guidance Clinics are very useful for managing behavioral and emotional problems in children, but they also have some limitations.</a:t>
            </a:r>
          </a:p>
          <a:p>
            <a:r>
              <a:rPr sz="1800">
                <a:solidFill>
                  <a:srgbClr val="282828"/>
                </a:solidFill>
              </a:rPr>
              <a:t>1. Limited Availability</a:t>
            </a:r>
          </a:p>
          <a:p>
            <a:r>
              <a:rPr sz="1800">
                <a:solidFill>
                  <a:srgbClr val="282828"/>
                </a:solidFill>
              </a:rPr>
              <a:t>Child Guidance Clinics are not available in all areas, especially in rural or remote places. Many families cannot easily access these services.</a:t>
            </a:r>
          </a:p>
          <a:p>
            <a:r>
              <a:rPr sz="1800">
                <a:solidFill>
                  <a:srgbClr val="282828"/>
                </a:solidFill>
              </a:rPr>
              <a:t>2. Lack of Trained Professionals</a:t>
            </a:r>
          </a:p>
          <a:p>
            <a:r>
              <a:rPr sz="1800">
                <a:solidFill>
                  <a:srgbClr val="282828"/>
                </a:solidFill>
              </a:rPr>
              <a:t>There may be a shortage of specialists such as child psychiatrists, psychologists, and special educators. This can affect the quality of care and delay treatment.</a:t>
            </a:r>
          </a:p>
          <a:p>
            <a:r>
              <a:rPr sz="1800">
                <a:solidFill>
                  <a:srgbClr val="282828"/>
                </a:solidFill>
              </a:rPr>
              <a:t>3. High Cost of Services</a:t>
            </a:r>
          </a:p>
          <a:p>
            <a:r>
              <a:rPr sz="1800">
                <a:solidFill>
                  <a:srgbClr val="282828"/>
                </a:solidFill>
              </a:rPr>
              <a:t>Assessment, counseling, and therapy in CGC may be expensive, making it difficult for low-income families to continue treatment.</a:t>
            </a:r>
          </a:p>
          <a:p>
            <a:r>
              <a:rPr sz="1800">
                <a:solidFill>
                  <a:srgbClr val="282828"/>
                </a:solidFill>
              </a:rPr>
              <a:t>4. Time-Consuming Process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.IMPORTANCE OF CHILD GUIDANCE CLINIC</a:t>
            </a:r>
          </a:p>
        </p:txBody>
      </p:sp>
      <p:sp>
        <p:nvSpPr>
          <p:cNvPr id="3" name="Content Placeholder 2"/>
          <p:cNvSpPr>
            <a:spLocks noGrp="1"/>
          </p:cNvSpPr>
          <p:nvPr>
            <p:ph idx="1"/>
          </p:nvPr>
        </p:nvSpPr>
        <p:spPr/>
        <p:txBody>
          <a:bodyPr/>
          <a:lstStyle/>
          <a:p>
            <a:r>
              <a:rPr sz="1800">
                <a:solidFill>
                  <a:srgbClr val="282828"/>
                </a:solidFill>
              </a:rPr>
              <a:t>Diagnosis and management often require multiple sessions, observations, and tests, which can take a long time.</a:t>
            </a:r>
          </a:p>
          <a:p>
            <a:r>
              <a:rPr sz="1800">
                <a:solidFill>
                  <a:srgbClr val="282828"/>
                </a:solidFill>
              </a:rPr>
              <a:t>5. Lack of Awareness</a:t>
            </a:r>
          </a:p>
          <a:p>
            <a:r>
              <a:rPr sz="1800">
                <a:solidFill>
                  <a:srgbClr val="282828"/>
                </a:solidFill>
              </a:rPr>
              <a:t>Many parents are not aware of Child Guidance Clinics or the importance of early treatment for behavioral problems, so children may not receive help in time.</a:t>
            </a:r>
          </a:p>
          <a:p>
            <a:r>
              <a:rPr sz="1800">
                <a:solidFill>
                  <a:srgbClr val="282828"/>
                </a:solidFill>
              </a:rPr>
              <a:t>6. Social Stigma</a:t>
            </a:r>
          </a:p>
          <a:p>
            <a:r>
              <a:rPr sz="1800">
                <a:solidFill>
                  <a:srgbClr val="282828"/>
                </a:solidFill>
              </a:rPr>
              <a:t>Some families feel embarrassed or afraid of social stigma when visiting a clinic for behavioral or mental health problems.</a:t>
            </a:r>
          </a:p>
          <a:p>
            <a:r>
              <a:rPr sz="1800">
                <a:solidFill>
                  <a:srgbClr val="282828"/>
                </a:solidFill>
              </a:rPr>
              <a:t>7. Poor Follow-Up</a:t>
            </a:r>
          </a:p>
          <a:p>
            <a:r>
              <a:rPr sz="1800">
                <a:solidFill>
                  <a:srgbClr val="282828"/>
                </a:solidFill>
              </a:rPr>
              <a:t>Sometimes families do not continue regular follow-up visits, which can reduce the effectiveness of treatment.</a:t>
            </a:r>
          </a:p>
          <a:p>
            <a:r>
              <a:rPr sz="1800">
                <a:solidFill>
                  <a:srgbClr val="282828"/>
                </a:solidFill>
              </a:rPr>
              <a:t>8. Limited Facilities and Resources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.IMPORTANCE OF CHILD GUIDANCE CLINIC</a:t>
            </a:r>
          </a:p>
        </p:txBody>
      </p:sp>
      <p:sp>
        <p:nvSpPr>
          <p:cNvPr id="3" name="Content Placeholder 2"/>
          <p:cNvSpPr>
            <a:spLocks noGrp="1"/>
          </p:cNvSpPr>
          <p:nvPr>
            <p:ph idx="1"/>
          </p:nvPr>
        </p:nvSpPr>
        <p:spPr/>
        <p:txBody>
          <a:bodyPr/>
          <a:lstStyle/>
          <a:p>
            <a:r>
              <a:rPr sz="1800">
                <a:solidFill>
                  <a:srgbClr val="282828"/>
                </a:solidFill>
              </a:rPr>
              <a:t>Some clinics may lack proper infrastructure, diagnostic tools, or therapy facilities, which limits effective management.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Role of a pediatric nurse in child guidance clinic:</a:t>
            </a:r>
          </a:p>
        </p:txBody>
      </p:sp>
      <p:sp>
        <p:nvSpPr>
          <p:cNvPr id="3" name="Content Placeholder 2"/>
          <p:cNvSpPr>
            <a:spLocks noGrp="1"/>
          </p:cNvSpPr>
          <p:nvPr>
            <p:ph idx="1"/>
          </p:nvPr>
        </p:nvSpPr>
        <p:spPr/>
        <p:txBody>
          <a:bodyPr/>
          <a:lstStyle/>
          <a:p>
            <a:r>
              <a:rPr sz="1800">
                <a:solidFill>
                  <a:srgbClr val="282828"/>
                </a:solidFill>
              </a:rPr>
              <a:t>The role of a pediatric nurse in a Child Guidance Clinic (CGC) is very important in identifying, managing, and preventing behavioral and emotional problems in children. The nurse works as a part of a multidisciplinary team with psychiatrists, psychologists, social workers, and teachers.</a:t>
            </a:r>
          </a:p>
          <a:p>
            <a:r>
              <a:rPr sz="1800">
                <a:solidFill>
                  <a:srgbClr val="282828"/>
                </a:solidFill>
              </a:rPr>
              <a:t>1. Assessment of the Child</a:t>
            </a:r>
          </a:p>
          <a:p>
            <a:r>
              <a:rPr sz="1800">
                <a:solidFill>
                  <a:srgbClr val="282828"/>
                </a:solidFill>
              </a:rPr>
              <a:t>Collect detailed health history from parents and caregivers.</a:t>
            </a:r>
          </a:p>
          <a:p>
            <a:r>
              <a:rPr sz="1800">
                <a:solidFill>
                  <a:srgbClr val="282828"/>
                </a:solidFill>
              </a:rPr>
              <a:t>Assess the child’s physical, emotional, and developmental status.</a:t>
            </a:r>
          </a:p>
          <a:p>
            <a:r>
              <a:rPr sz="1800">
                <a:solidFill>
                  <a:srgbClr val="282828"/>
                </a:solidFill>
              </a:rPr>
              <a:t>Observe the child’s behavior, communication, and interaction with parents.</a:t>
            </a:r>
          </a:p>
          <a:p>
            <a:r>
              <a:rPr sz="1800">
                <a:solidFill>
                  <a:srgbClr val="282828"/>
                </a:solidFill>
              </a:rPr>
              <a:t>Identify early signs of behavioral or emotional problems.</a:t>
            </a:r>
          </a:p>
          <a:p>
            <a:r>
              <a:rPr sz="1800">
                <a:solidFill>
                  <a:srgbClr val="282828"/>
                </a:solidFill>
              </a:rPr>
              <a:t>2. Assisting in Diagnosis</a:t>
            </a:r>
          </a:p>
          <a:p>
            <a:r>
              <a:rPr sz="1800">
                <a:solidFill>
                  <a:srgbClr val="282828"/>
                </a:solidFill>
              </a:rPr>
              <a:t>Help the doctor and psychologist during clinical examination and psychological tests.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Role of a pediatric nurse in child guidance clinic:</a:t>
            </a:r>
          </a:p>
        </p:txBody>
      </p:sp>
      <p:sp>
        <p:nvSpPr>
          <p:cNvPr id="3" name="Content Placeholder 2"/>
          <p:cNvSpPr>
            <a:spLocks noGrp="1"/>
          </p:cNvSpPr>
          <p:nvPr>
            <p:ph idx="1"/>
          </p:nvPr>
        </p:nvSpPr>
        <p:spPr/>
        <p:txBody>
          <a:bodyPr/>
          <a:lstStyle/>
          <a:p>
            <a:r>
              <a:rPr sz="1800">
                <a:solidFill>
                  <a:srgbClr val="282828"/>
                </a:solidFill>
              </a:rPr>
              <a:t>Record observations about the child’s behavior, mood, and responses.</a:t>
            </a:r>
          </a:p>
          <a:p>
            <a:r>
              <a:rPr sz="1800">
                <a:solidFill>
                  <a:srgbClr val="282828"/>
                </a:solidFill>
              </a:rPr>
              <a:t>Maintain proper documentation and case records.</a:t>
            </a:r>
          </a:p>
          <a:p>
            <a:r>
              <a:rPr sz="1800">
                <a:solidFill>
                  <a:srgbClr val="282828"/>
                </a:solidFill>
              </a:rPr>
              <a:t>3. Counseling and Guidance</a:t>
            </a:r>
          </a:p>
          <a:p>
            <a:r>
              <a:rPr sz="1800">
                <a:solidFill>
                  <a:srgbClr val="282828"/>
                </a:solidFill>
              </a:rPr>
              <a:t>Provide counseling to parents about child behavior and development.</a:t>
            </a:r>
          </a:p>
          <a:p>
            <a:r>
              <a:rPr sz="1800">
                <a:solidFill>
                  <a:srgbClr val="282828"/>
                </a:solidFill>
              </a:rPr>
              <a:t>Educate parents about positive parenting and discipline methods.</a:t>
            </a:r>
          </a:p>
          <a:p>
            <a:r>
              <a:rPr sz="1800">
                <a:solidFill>
                  <a:srgbClr val="282828"/>
                </a:solidFill>
              </a:rPr>
              <a:t>Help children express their feelings, fears, and anxieties.</a:t>
            </a:r>
          </a:p>
          <a:p>
            <a:r>
              <a:rPr sz="1800">
                <a:solidFill>
                  <a:srgbClr val="282828"/>
                </a:solidFill>
              </a:rPr>
              <a:t>4. Therapeutic Care</a:t>
            </a:r>
          </a:p>
          <a:p>
            <a:r>
              <a:rPr sz="1800">
                <a:solidFill>
                  <a:srgbClr val="282828"/>
                </a:solidFill>
              </a:rPr>
              <a:t>Assist in play therapy, behavior therapy, and group therapy.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Role of a pediatric nurse in child guidance clinic:</a:t>
            </a:r>
          </a:p>
        </p:txBody>
      </p:sp>
      <p:sp>
        <p:nvSpPr>
          <p:cNvPr id="3" name="Content Placeholder 2"/>
          <p:cNvSpPr>
            <a:spLocks noGrp="1"/>
          </p:cNvSpPr>
          <p:nvPr>
            <p:ph idx="1"/>
          </p:nvPr>
        </p:nvSpPr>
        <p:spPr/>
        <p:txBody>
          <a:bodyPr/>
          <a:lstStyle/>
          <a:p>
            <a:r>
              <a:rPr sz="1800">
                <a:solidFill>
                  <a:srgbClr val="282828"/>
                </a:solidFill>
              </a:rPr>
              <a:t>Encourage activities that improve the child’s social and emotional development.</a:t>
            </a:r>
          </a:p>
          <a:p>
            <a:r>
              <a:rPr sz="1800">
                <a:solidFill>
                  <a:srgbClr val="282828"/>
                </a:solidFill>
              </a:rPr>
              <a:t>Provide a safe and supportive environment for the child.</a:t>
            </a:r>
          </a:p>
          <a:p>
            <a:r>
              <a:rPr sz="1800">
                <a:solidFill>
                  <a:srgbClr val="282828"/>
                </a:solidFill>
              </a:rPr>
              <a:t>5. Health Education</a:t>
            </a:r>
          </a:p>
          <a:p>
            <a:r>
              <a:rPr sz="1800">
                <a:solidFill>
                  <a:srgbClr val="282828"/>
                </a:solidFill>
              </a:rPr>
              <a:t>Educate parents about child growth, development, and mental health.</a:t>
            </a:r>
          </a:p>
          <a:p>
            <a:r>
              <a:rPr sz="1800">
                <a:solidFill>
                  <a:srgbClr val="282828"/>
                </a:solidFill>
              </a:rPr>
              <a:t>Teach parents how to manage common behavioral problems such as temper tantrums, bedwetting, or feeding problems.</a:t>
            </a:r>
          </a:p>
          <a:p>
            <a:r>
              <a:rPr sz="1800">
                <a:solidFill>
                  <a:srgbClr val="282828"/>
                </a:solidFill>
              </a:rPr>
              <a:t>Promote healthy habits and emotional well-being.</a:t>
            </a:r>
          </a:p>
          <a:p>
            <a:r>
              <a:rPr sz="1800">
                <a:solidFill>
                  <a:srgbClr val="282828"/>
                </a:solidFill>
              </a:rPr>
              <a:t>6. Coordination with School and Family</a:t>
            </a:r>
          </a:p>
          <a:p>
            <a:r>
              <a:rPr sz="1800">
                <a:solidFill>
                  <a:srgbClr val="282828"/>
                </a:solidFill>
              </a:rPr>
              <a:t>Communicate with teachers and school authorities about the child’s behavior and progress.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Role of a pediatric nurse in child guidance clinic:</a:t>
            </a:r>
          </a:p>
        </p:txBody>
      </p:sp>
      <p:sp>
        <p:nvSpPr>
          <p:cNvPr id="3" name="Content Placeholder 2"/>
          <p:cNvSpPr>
            <a:spLocks noGrp="1"/>
          </p:cNvSpPr>
          <p:nvPr>
            <p:ph idx="1"/>
          </p:nvPr>
        </p:nvSpPr>
        <p:spPr/>
        <p:txBody>
          <a:bodyPr/>
          <a:lstStyle/>
          <a:p>
            <a:r>
              <a:rPr sz="1800">
                <a:solidFill>
                  <a:srgbClr val="282828"/>
                </a:solidFill>
              </a:rPr>
              <a:t>Help plan educational or behavioral interventions.</a:t>
            </a:r>
          </a:p>
          <a:p>
            <a:r>
              <a:rPr sz="1800">
                <a:solidFill>
                  <a:srgbClr val="282828"/>
                </a:solidFill>
              </a:rPr>
              <a:t>Support the family in implementing the treatment plan at home.</a:t>
            </a:r>
          </a:p>
          <a:p>
            <a:r>
              <a:rPr sz="1800">
                <a:solidFill>
                  <a:srgbClr val="282828"/>
                </a:solidFill>
              </a:rPr>
              <a:t>7. Follow-up and Evaluation</a:t>
            </a:r>
          </a:p>
          <a:p>
            <a:r>
              <a:rPr sz="1800">
                <a:solidFill>
                  <a:srgbClr val="282828"/>
                </a:solidFill>
              </a:rPr>
              <a:t>Monitor the child’s progress after treatment.</a:t>
            </a:r>
          </a:p>
          <a:p>
            <a:r>
              <a:rPr sz="1800">
                <a:solidFill>
                  <a:srgbClr val="282828"/>
                </a:solidFill>
              </a:rPr>
              <a:t>Conduct follow-up visits and reassess the child’s condition.</a:t>
            </a:r>
          </a:p>
          <a:p>
            <a:r>
              <a:rPr sz="1800">
                <a:solidFill>
                  <a:srgbClr val="282828"/>
                </a:solidFill>
              </a:rPr>
              <a:t>Modify care plans based on the child’s response to therapy.</a:t>
            </a:r>
          </a:p>
          <a:p>
            <a:r>
              <a:rPr sz="1800">
                <a:solidFill>
                  <a:srgbClr val="282828"/>
                </a:solidFill>
              </a:rPr>
              <a:t>8. Record Keeping and Reporting</a:t>
            </a:r>
          </a:p>
          <a:p>
            <a:r>
              <a:rPr sz="1800">
                <a:solidFill>
                  <a:srgbClr val="282828"/>
                </a:solidFill>
              </a:rPr>
              <a:t>Maintain accurate records of assessment, treatment, and follow-up.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Role of a pediatric nurse in child guidance clinic:</a:t>
            </a:r>
          </a:p>
        </p:txBody>
      </p:sp>
      <p:sp>
        <p:nvSpPr>
          <p:cNvPr id="3" name="Content Placeholder 2"/>
          <p:cNvSpPr>
            <a:spLocks noGrp="1"/>
          </p:cNvSpPr>
          <p:nvPr>
            <p:ph idx="1"/>
          </p:nvPr>
        </p:nvSpPr>
        <p:spPr/>
        <p:txBody>
          <a:bodyPr/>
          <a:lstStyle/>
          <a:p>
            <a:r>
              <a:rPr sz="1800">
                <a:solidFill>
                  <a:srgbClr val="282828"/>
                </a:solidFill>
              </a:rPr>
              <a:t>Prepare reports for the healthcare team.Identification of risk cases with adjustment problem.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Conclusion:</a:t>
            </a:r>
          </a:p>
        </p:txBody>
      </p:sp>
      <p:sp>
        <p:nvSpPr>
          <p:cNvPr id="3" name="Content Placeholder 2"/>
          <p:cNvSpPr>
            <a:spLocks noGrp="1"/>
          </p:cNvSpPr>
          <p:nvPr>
            <p:ph idx="1"/>
          </p:nvPr>
        </p:nvSpPr>
        <p:spPr/>
        <p:txBody>
          <a:bodyPr/>
          <a:lstStyle/>
          <a:p>
            <a:r>
              <a:rPr sz="1800">
                <a:solidFill>
                  <a:srgbClr val="282828"/>
                </a:solidFill>
              </a:rPr>
              <a:t>Child Guidance Clinic (CGC) is an overall development of a child in term of their physical and psychological. CGC used psychology and medicine to deal with difficult behavior and help children adjust to challenging issues in their lives and family members were involve.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REFERENCE:</a:t>
            </a:r>
          </a:p>
        </p:txBody>
      </p:sp>
      <p:sp>
        <p:nvSpPr>
          <p:cNvPr id="3" name="Content Placeholder 2"/>
          <p:cNvSpPr>
            <a:spLocks noGrp="1"/>
          </p:cNvSpPr>
          <p:nvPr>
            <p:ph idx="1"/>
          </p:nvPr>
        </p:nvSpPr>
        <p:spPr/>
        <p:txBody>
          <a:bodyPr/>
          <a:lstStyle/>
          <a:p>
            <a:r>
              <a:rPr sz="1800">
                <a:solidFill>
                  <a:srgbClr val="282828"/>
                </a:solidFill>
              </a:rPr>
              <a:t>1.	Datta P. Pediatric nursing. Published by “Jaypee Publisher”. Edition, 2nd , page no. 472-73.</a:t>
            </a:r>
          </a:p>
          <a:p>
            <a:r>
              <a:rPr sz="1800">
                <a:solidFill>
                  <a:srgbClr val="282828"/>
                </a:solidFill>
              </a:rPr>
              <a:t>2.	Sharma R. Essential of Pediatric Nursing. Published by “Jaypee Publisher”. Edition, 2nd , page no. 667-78.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PEDIATRICS</a:t>
            </a:r>
          </a:p>
        </p:txBody>
      </p:sp>
      <p:sp>
        <p:nvSpPr>
          <p:cNvPr id="3" name="Content Placeholder 2"/>
          <p:cNvSpPr>
            <a:spLocks noGrp="1"/>
          </p:cNvSpPr>
          <p:nvPr>
            <p:ph idx="1"/>
          </p:nvPr>
        </p:nvSpPr>
        <p:spPr/>
        <p:txBody>
          <a:bodyPr/>
          <a:lstStyle/>
          <a:p>
            <a:r>
              <a:rPr sz="1800">
                <a:solidFill>
                  <a:srgbClr val="282828"/>
                </a:solidFill>
              </a:rPr>
              <a:t>Introduction</a:t>
            </a:r>
          </a:p>
          <a:p>
            <a:r>
              <a:rPr sz="1800">
                <a:solidFill>
                  <a:srgbClr val="282828"/>
                </a:solidFill>
              </a:rPr>
              <a:t>Preventive pediatrics is an important branch of child health that focuses on preventing diseases, promoting growth and development, and ensuring overall well-being of children from birth to adolescence.Children are the future of a nation, and their health determines the social, economic, and developmental progress of society.</a:t>
            </a:r>
          </a:p>
          <a:p>
            <a:r>
              <a:rPr sz="1800">
                <a:solidFill>
                  <a:srgbClr val="282828"/>
                </a:solidFill>
              </a:rPr>
              <a:t>Definition</a:t>
            </a:r>
          </a:p>
          <a:p>
            <a:r>
              <a:rPr sz="1800">
                <a:solidFill>
                  <a:srgbClr val="282828"/>
                </a:solidFill>
              </a:rPr>
              <a:t>Preventive pediatrics is defined as:“The branch of pediatrics that focuses on preventing diseases, promoting optimal growth and development, and improving the health and well-being of children.”</a:t>
            </a:r>
          </a:p>
          <a:p>
            <a:r>
              <a:rPr sz="1800">
                <a:solidFill>
                  <a:srgbClr val="282828"/>
                </a:solidFill>
              </a:rPr>
              <a:t>“Preventive pediatrics involves measures taken to prevent illness, detect health problems early, and promote physical, mental, and social health of children.”</a:t>
            </a:r>
          </a:p>
          <a:p>
            <a:r>
              <a:rPr sz="1800">
                <a:solidFill>
                  <a:srgbClr val="282828"/>
                </a:solidFill>
              </a:rPr>
              <a:t>Concept of Preventive Pediatrics</a:t>
            </a:r>
          </a:p>
          <a:p>
            <a:r>
              <a:rPr sz="1800">
                <a:solidFill>
                  <a:srgbClr val="282828"/>
                </a:solidFill>
              </a:rPr>
              <a:t>The concept of preventive pediatrics is based on the principle that prevention is better than cure.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It involves three levels of prevention:</a:t>
            </a:r>
          </a:p>
        </p:txBody>
      </p:sp>
      <p:sp>
        <p:nvSpPr>
          <p:cNvPr id="3" name="Content Placeholder 2"/>
          <p:cNvSpPr>
            <a:spLocks noGrp="1"/>
          </p:cNvSpPr>
          <p:nvPr>
            <p:ph idx="1"/>
          </p:nvPr>
        </p:nvSpPr>
        <p:spPr/>
        <p:txBody>
          <a:bodyPr/>
          <a:lstStyle/>
          <a:p>
            <a:r>
              <a:rPr sz="1800">
                <a:solidFill>
                  <a:srgbClr val="282828"/>
                </a:solidFill>
              </a:rPr>
              <a:t>1. Primary Prevention</a:t>
            </a:r>
          </a:p>
          <a:p>
            <a:r>
              <a:rPr sz="1800">
                <a:solidFill>
                  <a:srgbClr val="282828"/>
                </a:solidFill>
              </a:rPr>
              <a:t>Preventing disease before it occurs.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Immunization, Breastfeeding promotion , Nutritional supplementation , Health education Environmental sanitation</a:t>
            </a:r>
          </a:p>
          <a:p>
            <a:r>
              <a:rPr sz="1800">
                <a:solidFill>
                  <a:srgbClr val="282828"/>
                </a:solidFill>
              </a:rPr>
              <a:t>Purpose: To reduce the incidence of disease.</a:t>
            </a:r>
          </a:p>
          <a:p>
            <a:r>
              <a:rPr sz="1800">
                <a:solidFill>
                  <a:srgbClr val="282828"/>
                </a:solidFill>
              </a:rPr>
              <a:t>2. Secondary Prevention</a:t>
            </a:r>
          </a:p>
          <a:p>
            <a:r>
              <a:rPr sz="1800">
                <a:solidFill>
                  <a:srgbClr val="282828"/>
                </a:solidFill>
              </a:rPr>
              <a:t>Early detection and treatment of disease.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Screening for anemia ,Growth monitoring ,Developmental assessment ,Newborn screening tests</a:t>
            </a:r>
          </a:p>
          <a:p>
            <a:r>
              <a:rPr sz="1800">
                <a:solidFill>
                  <a:srgbClr val="282828"/>
                </a:solidFill>
              </a:rPr>
              <a:t>Purpose: To detect disease early and prevent complications.</a:t>
            </a:r>
          </a:p>
          <a:p>
            <a:r>
              <a:rPr sz="1800">
                <a:solidFill>
                  <a:srgbClr val="282828"/>
                </a:solidFill>
              </a:rPr>
              <a:t>3. Tertiary Prevention</a:t>
            </a:r>
          </a:p>
          <a:p>
            <a:r>
              <a:rPr sz="1800">
                <a:solidFill>
                  <a:srgbClr val="282828"/>
                </a:solidFill>
              </a:rPr>
              <a:t>Reducing disability and rehabilitation.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Physiotherapy for cerebral palsy ,Speech therapy for developmental delay ,Rehabilitation programs for disabled children</a:t>
            </a:r>
          </a:p>
          <a:p>
            <a:r>
              <a:rPr sz="1800">
                <a:solidFill>
                  <a:srgbClr val="282828"/>
                </a:solidFill>
              </a:rPr>
              <a:t>Purpose: To reduce disability and improve quality of life.</a:t>
            </a:r>
          </a:p>
          <a:p>
            <a:r>
              <a:rPr sz="1800">
                <a:solidFill>
                  <a:srgbClr val="282828"/>
                </a:solidFill>
              </a:rPr>
              <a:t>Classification of Preventive Pediatrics</a:t>
            </a:r>
          </a:p>
          <a:p>
            <a:r>
              <a:rPr sz="1800">
                <a:solidFill>
                  <a:srgbClr val="282828"/>
                </a:solidFill>
              </a:rPr>
              <a:t>Antenatal Preventive Pediatrics</a:t>
            </a:r>
          </a:p>
          <a:p>
            <a:r>
              <a:rPr sz="1800">
                <a:solidFill>
                  <a:srgbClr val="282828"/>
                </a:solidFill>
              </a:rPr>
              <a:t>Post natal Preventive Pediatrics</a:t>
            </a:r>
          </a:p>
          <a:p>
            <a:r>
              <a:rPr sz="1800">
                <a:solidFill>
                  <a:srgbClr val="282828"/>
                </a:solidFill>
              </a:rPr>
              <a:t>Social Preventive Pediatrics</a:t>
            </a:r>
          </a:p>
          <a:p>
            <a:r>
              <a:rPr sz="1800">
                <a:solidFill>
                  <a:srgbClr val="282828"/>
                </a:solidFill>
              </a:rPr>
              <a:t>Antenatal Preventive Pediatrics</a:t>
            </a:r>
          </a:p>
          <a:p>
            <a:r>
              <a:rPr sz="1800">
                <a:solidFill>
                  <a:srgbClr val="282828"/>
                </a:solidFill>
              </a:rPr>
              <a:t>It includes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Optimum nutrition</a:t>
            </a:r>
          </a:p>
          <a:p>
            <a:r>
              <a:rPr sz="1800">
                <a:solidFill>
                  <a:srgbClr val="282828"/>
                </a:solidFill>
              </a:rPr>
              <a:t>Preparation for delivery and breastfeeding</a:t>
            </a:r>
          </a:p>
          <a:p>
            <a:r>
              <a:rPr sz="1800">
                <a:solidFill>
                  <a:srgbClr val="282828"/>
                </a:solidFill>
              </a:rPr>
              <a:t>Prevention of communicabale disease</a:t>
            </a:r>
          </a:p>
          <a:p>
            <a:r>
              <a:rPr sz="1800">
                <a:solidFill>
                  <a:srgbClr val="282828"/>
                </a:solidFill>
              </a:rPr>
              <a:t>Post natal Preventive Pediatrics</a:t>
            </a:r>
          </a:p>
          <a:p>
            <a:r>
              <a:rPr sz="1800">
                <a:solidFill>
                  <a:srgbClr val="282828"/>
                </a:solidFill>
              </a:rPr>
              <a:t>It comprises the following strategies</a:t>
            </a:r>
          </a:p>
          <a:p>
            <a:r>
              <a:rPr sz="1800">
                <a:solidFill>
                  <a:srgbClr val="282828"/>
                </a:solidFill>
              </a:rPr>
              <a:t>Promotion of exclusive breastfeeding</a:t>
            </a:r>
          </a:p>
          <a:p>
            <a:r>
              <a:rPr sz="1800">
                <a:solidFill>
                  <a:srgbClr val="282828"/>
                </a:solidFill>
              </a:rPr>
              <a:t>Immunization</a:t>
            </a:r>
          </a:p>
          <a:p>
            <a:r>
              <a:rPr sz="1800">
                <a:solidFill>
                  <a:srgbClr val="282828"/>
                </a:solidFill>
              </a:rPr>
              <a:t>Weaning food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Growth monitoring</a:t>
            </a:r>
          </a:p>
          <a:p>
            <a:r>
              <a:rPr sz="1800">
                <a:solidFill>
                  <a:srgbClr val="282828"/>
                </a:solidFill>
              </a:rPr>
              <a:t>Periodic health checkup</a:t>
            </a:r>
          </a:p>
          <a:p>
            <a:r>
              <a:rPr sz="1800">
                <a:solidFill>
                  <a:srgbClr val="282828"/>
                </a:solidFill>
              </a:rPr>
              <a:t>Social Preventive Pediatrics</a:t>
            </a:r>
          </a:p>
          <a:p>
            <a:r>
              <a:rPr sz="1800">
                <a:solidFill>
                  <a:srgbClr val="282828"/>
                </a:solidFill>
              </a:rPr>
              <a:t>It includes</a:t>
            </a:r>
          </a:p>
          <a:p>
            <a:r>
              <a:rPr sz="1800">
                <a:solidFill>
                  <a:srgbClr val="282828"/>
                </a:solidFill>
              </a:rPr>
              <a:t>Collection and interpretation of community information to identify at risk children</a:t>
            </a:r>
          </a:p>
          <a:p>
            <a:r>
              <a:rPr sz="1800">
                <a:solidFill>
                  <a:srgbClr val="282828"/>
                </a:solidFill>
              </a:rPr>
              <a:t>Correlation of vital statistics with social and biological characteristics</a:t>
            </a:r>
          </a:p>
          <a:p>
            <a:r>
              <a:rPr sz="1800">
                <a:solidFill>
                  <a:srgbClr val="282828"/>
                </a:solidFill>
              </a:rPr>
              <a:t>Implementation of child welfare policies and schemes</a:t>
            </a:r>
          </a:p>
          <a:p>
            <a:r>
              <a:rPr sz="1800">
                <a:solidFill>
                  <a:srgbClr val="282828"/>
                </a:solidFill>
              </a:rPr>
              <a:t>Promoting healthy environment by maintaining rights of children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Identification and rehabilitation of mentally and socially challenged children</a:t>
            </a:r>
          </a:p>
          <a:p>
            <a:r>
              <a:rPr sz="1800">
                <a:solidFill>
                  <a:srgbClr val="282828"/>
                </a:solidFill>
              </a:rPr>
              <a:t>Principles of Preventive Pediatrics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pediatrics follows certain important principles:</a:t>
            </a:r>
          </a:p>
        </p:txBody>
      </p:sp>
      <p:sp>
        <p:nvSpPr>
          <p:cNvPr id="3" name="Content Placeholder 2"/>
          <p:cNvSpPr>
            <a:spLocks noGrp="1"/>
          </p:cNvSpPr>
          <p:nvPr>
            <p:ph idx="1"/>
          </p:nvPr>
        </p:nvSpPr>
        <p:spPr/>
        <p:txBody>
          <a:bodyPr/>
          <a:lstStyle/>
          <a:p>
            <a:r>
              <a:rPr sz="1800">
                <a:solidFill>
                  <a:srgbClr val="282828"/>
                </a:solidFill>
              </a:rPr>
              <a:t>1. Early prevention</a:t>
            </a:r>
          </a:p>
          <a:p>
            <a:r>
              <a:rPr sz="1800">
                <a:solidFill>
                  <a:srgbClr val="282828"/>
                </a:solidFill>
              </a:rPr>
              <a:t>Health problems should be prevented as early as possible, even before birth.</a:t>
            </a:r>
          </a:p>
          <a:p>
            <a:r>
              <a:rPr sz="1800">
                <a:solidFill>
                  <a:srgbClr val="282828"/>
                </a:solidFill>
              </a:rPr>
              <a:t>Example: Antenatal care ,Maternal nutrition</a:t>
            </a:r>
          </a:p>
          <a:p>
            <a:r>
              <a:rPr sz="1800">
                <a:solidFill>
                  <a:srgbClr val="282828"/>
                </a:solidFill>
              </a:rPr>
              <a:t>2. Continuous health care</a:t>
            </a:r>
          </a:p>
          <a:p>
            <a:r>
              <a:rPr sz="1800">
                <a:solidFill>
                  <a:srgbClr val="282828"/>
                </a:solidFill>
              </a:rPr>
              <a:t>Health care should be provided from fetal life to adolescence.</a:t>
            </a:r>
          </a:p>
          <a:p>
            <a:r>
              <a:rPr sz="1800">
                <a:solidFill>
                  <a:srgbClr val="282828"/>
                </a:solidFill>
              </a:rPr>
              <a:t>3. Family-centered care</a:t>
            </a:r>
          </a:p>
          <a:p>
            <a:r>
              <a:rPr sz="1800">
                <a:solidFill>
                  <a:srgbClr val="282828"/>
                </a:solidFill>
              </a:rPr>
              <a:t>The child’s health depends on the family environment and parental care.</a:t>
            </a:r>
          </a:p>
          <a:p>
            <a:r>
              <a:rPr sz="1800">
                <a:solidFill>
                  <a:srgbClr val="282828"/>
                </a:solidFill>
              </a:rPr>
              <a:t>4. Community participation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pediatrics follows certain important principles:</a:t>
            </a:r>
          </a:p>
        </p:txBody>
      </p:sp>
      <p:sp>
        <p:nvSpPr>
          <p:cNvPr id="3" name="Content Placeholder 2"/>
          <p:cNvSpPr>
            <a:spLocks noGrp="1"/>
          </p:cNvSpPr>
          <p:nvPr>
            <p:ph idx="1"/>
          </p:nvPr>
        </p:nvSpPr>
        <p:spPr/>
        <p:txBody>
          <a:bodyPr/>
          <a:lstStyle/>
          <a:p>
            <a:r>
              <a:rPr sz="1800">
                <a:solidFill>
                  <a:srgbClr val="282828"/>
                </a:solidFill>
              </a:rPr>
              <a:t>Community involvement is necessary to promote child health.</a:t>
            </a:r>
          </a:p>
          <a:p>
            <a:r>
              <a:rPr sz="1800">
                <a:solidFill>
                  <a:srgbClr val="282828"/>
                </a:solidFill>
              </a:rPr>
              <a:t>Example: Vaccination programs ,Health education camps</a:t>
            </a:r>
          </a:p>
          <a:p>
            <a:r>
              <a:rPr sz="1800">
                <a:solidFill>
                  <a:srgbClr val="282828"/>
                </a:solidFill>
              </a:rPr>
              <a:t>5. Multidisciplinary approach</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pediatrics requires cooperation of:</a:t>
            </a:r>
          </a:p>
        </p:txBody>
      </p:sp>
      <p:sp>
        <p:nvSpPr>
          <p:cNvPr id="3" name="Content Placeholder 2"/>
          <p:cNvSpPr>
            <a:spLocks noGrp="1"/>
          </p:cNvSpPr>
          <p:nvPr>
            <p:ph idx="1"/>
          </p:nvPr>
        </p:nvSpPr>
        <p:spPr/>
        <p:txBody>
          <a:bodyPr/>
          <a:lstStyle/>
          <a:p>
            <a:r>
              <a:rPr sz="1800">
                <a:solidFill>
                  <a:srgbClr val="282828"/>
                </a:solidFill>
              </a:rPr>
              <a:t>Doctors</a:t>
            </a:r>
          </a:p>
          <a:p>
            <a:r>
              <a:rPr sz="1800">
                <a:solidFill>
                  <a:srgbClr val="282828"/>
                </a:solidFill>
              </a:rPr>
              <a:t>Nurses</a:t>
            </a:r>
          </a:p>
          <a:p>
            <a:r>
              <a:rPr sz="1800">
                <a:solidFill>
                  <a:srgbClr val="282828"/>
                </a:solidFill>
              </a:rPr>
              <a:t>Nutritionists</a:t>
            </a:r>
          </a:p>
          <a:p>
            <a:r>
              <a:rPr sz="1800">
                <a:solidFill>
                  <a:srgbClr val="282828"/>
                </a:solidFill>
              </a:rPr>
              <a:t>Social workers</a:t>
            </a:r>
          </a:p>
          <a:p>
            <a:r>
              <a:rPr sz="1800">
                <a:solidFill>
                  <a:srgbClr val="282828"/>
                </a:solidFill>
              </a:rPr>
              <a:t>Teachers</a:t>
            </a:r>
          </a:p>
          <a:p>
            <a:r>
              <a:rPr sz="1800">
                <a:solidFill>
                  <a:srgbClr val="282828"/>
                </a:solidFill>
              </a:rPr>
              <a:t>Aims of Preventive Pediatrics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The main aims are:</a:t>
            </a:r>
          </a:p>
        </p:txBody>
      </p:sp>
      <p:sp>
        <p:nvSpPr>
          <p:cNvPr id="3" name="Content Placeholder 2"/>
          <p:cNvSpPr>
            <a:spLocks noGrp="1"/>
          </p:cNvSpPr>
          <p:nvPr>
            <p:ph idx="1"/>
          </p:nvPr>
        </p:nvSpPr>
        <p:spPr/>
        <p:txBody>
          <a:bodyPr/>
          <a:lstStyle/>
          <a:p>
            <a:r>
              <a:rPr sz="1800">
                <a:solidFill>
                  <a:srgbClr val="282828"/>
                </a:solidFill>
              </a:rPr>
              <a:t>1. To promote normal growth and development of children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This includes:</a:t>
            </a:r>
          </a:p>
        </p:txBody>
      </p:sp>
      <p:sp>
        <p:nvSpPr>
          <p:cNvPr id="3" name="Content Placeholder 2"/>
          <p:cNvSpPr>
            <a:spLocks noGrp="1"/>
          </p:cNvSpPr>
          <p:nvPr>
            <p:ph idx="1"/>
          </p:nvPr>
        </p:nvSpPr>
        <p:spPr/>
        <p:txBody>
          <a:bodyPr/>
          <a:lstStyle/>
          <a:p>
            <a:r>
              <a:rPr sz="1800">
                <a:solidFill>
                  <a:srgbClr val="282828"/>
                </a:solidFill>
              </a:rPr>
              <a:t>Physical development</a:t>
            </a:r>
          </a:p>
          <a:p>
            <a:r>
              <a:rPr sz="1800">
                <a:solidFill>
                  <a:srgbClr val="282828"/>
                </a:solidFill>
              </a:rPr>
              <a:t>Mental development</a:t>
            </a:r>
          </a:p>
          <a:p>
            <a:r>
              <a:rPr sz="1800">
                <a:solidFill>
                  <a:srgbClr val="282828"/>
                </a:solidFill>
              </a:rPr>
              <a:t>Emotional development</a:t>
            </a:r>
          </a:p>
          <a:p>
            <a:r>
              <a:rPr sz="1800">
                <a:solidFill>
                  <a:srgbClr val="282828"/>
                </a:solidFill>
              </a:rPr>
              <a:t>Social development</a:t>
            </a:r>
          </a:p>
          <a:p>
            <a:r>
              <a:rPr sz="1800">
                <a:solidFill>
                  <a:srgbClr val="282828"/>
                </a:solidFill>
              </a:rPr>
              <a:t>2. To prevent diseases in children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a:t>
            </a:r>
          </a:p>
        </p:txBody>
      </p:sp>
      <p:sp>
        <p:nvSpPr>
          <p:cNvPr id="3" name="Content Placeholder 2"/>
          <p:cNvSpPr>
            <a:spLocks noGrp="1"/>
          </p:cNvSpPr>
          <p:nvPr>
            <p:ph idx="1"/>
          </p:nvPr>
        </p:nvSpPr>
        <p:spPr/>
        <p:txBody>
          <a:bodyPr/>
          <a:lstStyle/>
          <a:p>
            <a:r>
              <a:rPr sz="1800">
                <a:solidFill>
                  <a:srgbClr val="282828"/>
                </a:solidFill>
              </a:rPr>
              <a:t>Immunization</a:t>
            </a:r>
          </a:p>
          <a:p>
            <a:r>
              <a:rPr sz="1800">
                <a:solidFill>
                  <a:srgbClr val="282828"/>
                </a:solidFill>
              </a:rPr>
              <a:t>Proper hygiene</a:t>
            </a:r>
          </a:p>
          <a:p>
            <a:r>
              <a:rPr sz="1800">
                <a:solidFill>
                  <a:srgbClr val="282828"/>
                </a:solidFill>
              </a:rPr>
              <a:t>Safe drinking water</a:t>
            </a:r>
          </a:p>
          <a:p>
            <a:r>
              <a:rPr sz="1800">
                <a:solidFill>
                  <a:srgbClr val="282828"/>
                </a:solidFill>
              </a:rPr>
              <a:t>Nutritional care</a:t>
            </a:r>
          </a:p>
          <a:p>
            <a:r>
              <a:rPr sz="1800">
                <a:solidFill>
                  <a:srgbClr val="282828"/>
                </a:solidFill>
              </a:rPr>
              <a:t>3. To detect diseases early</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a:t>
            </a:r>
          </a:p>
        </p:txBody>
      </p:sp>
      <p:sp>
        <p:nvSpPr>
          <p:cNvPr id="3" name="Content Placeholder 2"/>
          <p:cNvSpPr>
            <a:spLocks noGrp="1"/>
          </p:cNvSpPr>
          <p:nvPr>
            <p:ph idx="1"/>
          </p:nvPr>
        </p:nvSpPr>
        <p:spPr/>
        <p:txBody>
          <a:bodyPr/>
          <a:lstStyle/>
          <a:p>
            <a:r>
              <a:rPr sz="1800">
                <a:solidFill>
                  <a:srgbClr val="282828"/>
                </a:solidFill>
              </a:rPr>
              <a:t>Growth monitoring</a:t>
            </a:r>
          </a:p>
          <a:p>
            <a:r>
              <a:rPr sz="1800">
                <a:solidFill>
                  <a:srgbClr val="282828"/>
                </a:solidFill>
              </a:rPr>
              <a:t>Developmental screening</a:t>
            </a:r>
          </a:p>
          <a:p>
            <a:r>
              <a:rPr sz="1800">
                <a:solidFill>
                  <a:srgbClr val="282828"/>
                </a:solidFill>
              </a:rPr>
              <a:t>Routine health checkups</a:t>
            </a:r>
          </a:p>
          <a:p>
            <a:r>
              <a:rPr sz="1800">
                <a:solidFill>
                  <a:srgbClr val="282828"/>
                </a:solidFill>
              </a:rPr>
              <a:t>4. To reduce child mortality and morbidity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pediatrics helps decrease:</a:t>
            </a:r>
          </a:p>
        </p:txBody>
      </p:sp>
      <p:sp>
        <p:nvSpPr>
          <p:cNvPr id="3" name="Content Placeholder 2"/>
          <p:cNvSpPr>
            <a:spLocks noGrp="1"/>
          </p:cNvSpPr>
          <p:nvPr>
            <p:ph idx="1"/>
          </p:nvPr>
        </p:nvSpPr>
        <p:spPr/>
        <p:txBody>
          <a:bodyPr/>
          <a:lstStyle/>
          <a:p>
            <a:r>
              <a:rPr sz="1800">
                <a:solidFill>
                  <a:srgbClr val="282828"/>
                </a:solidFill>
              </a:rPr>
              <a:t>Infant mortality rate</a:t>
            </a:r>
          </a:p>
          <a:p>
            <a:r>
              <a:rPr sz="1800">
                <a:solidFill>
                  <a:srgbClr val="282828"/>
                </a:solidFill>
              </a:rPr>
              <a:t>Child mortality rate</a:t>
            </a:r>
          </a:p>
          <a:p>
            <a:r>
              <a:rPr sz="1800">
                <a:solidFill>
                  <a:srgbClr val="282828"/>
                </a:solidFill>
              </a:rPr>
              <a:t>Disease burden</a:t>
            </a:r>
          </a:p>
          <a:p>
            <a:r>
              <a:rPr sz="1800">
                <a:solidFill>
                  <a:srgbClr val="282828"/>
                </a:solidFill>
              </a:rPr>
              <a:t>5. To improve the quality of life of children</a:t>
            </a:r>
          </a:p>
          <a:p>
            <a:r>
              <a:rPr sz="1800">
                <a:solidFill>
                  <a:srgbClr val="282828"/>
                </a:solidFill>
              </a:rPr>
              <a:t>Healthy children become healthy adults.</a:t>
            </a:r>
          </a:p>
          <a:p>
            <a:r>
              <a:rPr sz="1800">
                <a:solidFill>
                  <a:srgbClr val="282828"/>
                </a:solidFill>
              </a:rPr>
              <a:t>6. To educate parents about child care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Parents should know about:</a:t>
            </a:r>
          </a:p>
        </p:txBody>
      </p:sp>
      <p:sp>
        <p:nvSpPr>
          <p:cNvPr id="3" name="Content Placeholder 2"/>
          <p:cNvSpPr>
            <a:spLocks noGrp="1"/>
          </p:cNvSpPr>
          <p:nvPr>
            <p:ph idx="1"/>
          </p:nvPr>
        </p:nvSpPr>
        <p:spPr/>
        <p:txBody>
          <a:bodyPr/>
          <a:lstStyle/>
          <a:p>
            <a:r>
              <a:rPr sz="1800">
                <a:solidFill>
                  <a:srgbClr val="282828"/>
                </a:solidFill>
              </a:rPr>
              <a:t>Nutrition</a:t>
            </a:r>
          </a:p>
          <a:p>
            <a:r>
              <a:rPr sz="1800">
                <a:solidFill>
                  <a:srgbClr val="282828"/>
                </a:solidFill>
              </a:rPr>
              <a:t>Immunization</a:t>
            </a:r>
          </a:p>
          <a:p>
            <a:r>
              <a:rPr sz="1800">
                <a:solidFill>
                  <a:srgbClr val="282828"/>
                </a:solidFill>
              </a:rPr>
              <a:t>Hygiene</a:t>
            </a:r>
          </a:p>
          <a:p>
            <a:r>
              <a:rPr sz="1800">
                <a:solidFill>
                  <a:srgbClr val="282828"/>
                </a:solidFill>
              </a:rPr>
              <a:t>Disease prevention</a:t>
            </a:r>
          </a:p>
          <a:p>
            <a:r>
              <a:rPr sz="1800">
                <a:solidFill>
                  <a:srgbClr val="282828"/>
                </a:solidFill>
              </a:rPr>
              <a:t>Objectives of Preventive Pediatrics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Important objectives include:</a:t>
            </a:r>
          </a:p>
        </p:txBody>
      </p:sp>
      <p:sp>
        <p:nvSpPr>
          <p:cNvPr id="3" name="Content Placeholder 2"/>
          <p:cNvSpPr>
            <a:spLocks noGrp="1"/>
          </p:cNvSpPr>
          <p:nvPr>
            <p:ph idx="1"/>
          </p:nvPr>
        </p:nvSpPr>
        <p:spPr/>
        <p:txBody>
          <a:bodyPr/>
          <a:lstStyle/>
          <a:p>
            <a:r>
              <a:rPr sz="1800">
                <a:solidFill>
                  <a:srgbClr val="282828"/>
                </a:solidFill>
              </a:rPr>
              <a:t>Promote breastfeeding</a:t>
            </a:r>
          </a:p>
          <a:p>
            <a:r>
              <a:rPr sz="1800">
                <a:solidFill>
                  <a:srgbClr val="282828"/>
                </a:solidFill>
              </a:rPr>
              <a:t>Ensure adequate nutrition</a:t>
            </a:r>
          </a:p>
          <a:p>
            <a:r>
              <a:rPr sz="1800">
                <a:solidFill>
                  <a:srgbClr val="282828"/>
                </a:solidFill>
              </a:rPr>
              <a:t>Provide immunization</a:t>
            </a:r>
          </a:p>
          <a:p>
            <a:r>
              <a:rPr sz="1800">
                <a:solidFill>
                  <a:srgbClr val="282828"/>
                </a:solidFill>
              </a:rPr>
              <a:t>Monitor growth and development</a:t>
            </a:r>
          </a:p>
          <a:p>
            <a:r>
              <a:rPr sz="1800">
                <a:solidFill>
                  <a:srgbClr val="282828"/>
                </a:solidFill>
              </a:rPr>
              <a:t>Prevent infectious diseases</a:t>
            </a:r>
          </a:p>
          <a:p>
            <a:r>
              <a:rPr sz="1800">
                <a:solidFill>
                  <a:srgbClr val="282828"/>
                </a:solidFill>
              </a:rPr>
              <a:t>Promote mental health</a:t>
            </a:r>
          </a:p>
          <a:p>
            <a:r>
              <a:rPr sz="1800">
                <a:solidFill>
                  <a:srgbClr val="282828"/>
                </a:solidFill>
              </a:rPr>
              <a:t>Prevent accidents and injuries</a:t>
            </a:r>
          </a:p>
          <a:p>
            <a:r>
              <a:rPr sz="1800">
                <a:solidFill>
                  <a:srgbClr val="282828"/>
                </a:solidFill>
              </a:rPr>
              <a:t>Provide health education to parents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Important objectives include:</a:t>
            </a:r>
          </a:p>
        </p:txBody>
      </p:sp>
      <p:sp>
        <p:nvSpPr>
          <p:cNvPr id="3" name="Content Placeholder 2"/>
          <p:cNvSpPr>
            <a:spLocks noGrp="1"/>
          </p:cNvSpPr>
          <p:nvPr>
            <p:ph idx="1"/>
          </p:nvPr>
        </p:nvSpPr>
        <p:spPr/>
        <p:txBody>
          <a:bodyPr/>
          <a:lstStyle/>
          <a:p>
            <a:r>
              <a:rPr sz="1800">
                <a:solidFill>
                  <a:srgbClr val="282828"/>
                </a:solidFill>
              </a:rPr>
              <a:t>Scope of Preventive Pediatrics</a:t>
            </a:r>
          </a:p>
          <a:p>
            <a:r>
              <a:rPr sz="1800">
                <a:solidFill>
                  <a:srgbClr val="282828"/>
                </a:solidFill>
              </a:rPr>
              <a:t>The scope of preventive pediatrics is very wide and includes many areas.</a:t>
            </a:r>
          </a:p>
          <a:p>
            <a:r>
              <a:rPr sz="1800">
                <a:solidFill>
                  <a:srgbClr val="282828"/>
                </a:solidFill>
              </a:rPr>
              <a:t>1. Antenatal Care</a:t>
            </a:r>
          </a:p>
          <a:p>
            <a:r>
              <a:rPr sz="1800">
                <a:solidFill>
                  <a:srgbClr val="282828"/>
                </a:solidFill>
              </a:rPr>
              <a:t>Care of the mother during pregnancy is important for child health.</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Includes:</a:t>
            </a:r>
          </a:p>
        </p:txBody>
      </p:sp>
      <p:sp>
        <p:nvSpPr>
          <p:cNvPr id="3" name="Content Placeholder 2"/>
          <p:cNvSpPr>
            <a:spLocks noGrp="1"/>
          </p:cNvSpPr>
          <p:nvPr>
            <p:ph idx="1"/>
          </p:nvPr>
        </p:nvSpPr>
        <p:spPr/>
        <p:txBody>
          <a:bodyPr/>
          <a:lstStyle/>
          <a:p>
            <a:r>
              <a:rPr sz="1800">
                <a:solidFill>
                  <a:srgbClr val="282828"/>
                </a:solidFill>
              </a:rPr>
              <a:t>Maternal nutrition</a:t>
            </a:r>
          </a:p>
          <a:p>
            <a:r>
              <a:rPr sz="1800">
                <a:solidFill>
                  <a:srgbClr val="282828"/>
                </a:solidFill>
              </a:rPr>
              <a:t>Regular antenatal checkups</a:t>
            </a:r>
          </a:p>
          <a:p>
            <a:r>
              <a:rPr sz="1800">
                <a:solidFill>
                  <a:srgbClr val="282828"/>
                </a:solidFill>
              </a:rPr>
              <a:t>Prevention of maternal infections</a:t>
            </a:r>
          </a:p>
          <a:p>
            <a:r>
              <a:rPr sz="1800">
                <a:solidFill>
                  <a:srgbClr val="282828"/>
                </a:solidFill>
              </a:rPr>
              <a:t>Tetanus immunization</a:t>
            </a:r>
          </a:p>
          <a:p>
            <a:r>
              <a:rPr sz="1800">
                <a:solidFill>
                  <a:srgbClr val="282828"/>
                </a:solidFill>
              </a:rPr>
              <a:t>Purpose: To ensure healthy birth outcomes.</a:t>
            </a:r>
          </a:p>
          <a:p>
            <a:r>
              <a:rPr sz="1800">
                <a:solidFill>
                  <a:srgbClr val="282828"/>
                </a:solidFill>
              </a:rPr>
              <a:t>2. Neonatal Care</a:t>
            </a:r>
          </a:p>
          <a:p>
            <a:r>
              <a:rPr sz="1800">
                <a:solidFill>
                  <a:srgbClr val="282828"/>
                </a:solidFill>
              </a:rPr>
              <a:t>Care of newborn babies immediately after birth.</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Includes:</a:t>
            </a:r>
          </a:p>
        </p:txBody>
      </p:sp>
      <p:sp>
        <p:nvSpPr>
          <p:cNvPr id="3" name="Content Placeholder 2"/>
          <p:cNvSpPr>
            <a:spLocks noGrp="1"/>
          </p:cNvSpPr>
          <p:nvPr>
            <p:ph idx="1"/>
          </p:nvPr>
        </p:nvSpPr>
        <p:spPr/>
        <p:txBody>
          <a:bodyPr/>
          <a:lstStyle/>
          <a:p>
            <a:r>
              <a:rPr sz="1800">
                <a:solidFill>
                  <a:srgbClr val="282828"/>
                </a:solidFill>
              </a:rPr>
              <a:t>Thermal protection</a:t>
            </a:r>
          </a:p>
          <a:p>
            <a:r>
              <a:rPr sz="1800">
                <a:solidFill>
                  <a:srgbClr val="282828"/>
                </a:solidFill>
              </a:rPr>
              <a:t>Early breastfeeding</a:t>
            </a:r>
          </a:p>
          <a:p>
            <a:r>
              <a:rPr sz="1800">
                <a:solidFill>
                  <a:srgbClr val="282828"/>
                </a:solidFill>
              </a:rPr>
              <a:t>Cord care</a:t>
            </a:r>
          </a:p>
          <a:p>
            <a:r>
              <a:rPr sz="1800">
                <a:solidFill>
                  <a:srgbClr val="282828"/>
                </a:solidFill>
              </a:rPr>
              <a:t>Prevention of infections</a:t>
            </a:r>
          </a:p>
          <a:p>
            <a:r>
              <a:rPr sz="1800">
                <a:solidFill>
                  <a:srgbClr val="282828"/>
                </a:solidFill>
              </a:rPr>
              <a:t>Purpose: To reduce neonatal mortality.</a:t>
            </a:r>
          </a:p>
          <a:p>
            <a:r>
              <a:rPr sz="1800">
                <a:solidFill>
                  <a:srgbClr val="282828"/>
                </a:solidFill>
              </a:rPr>
              <a:t>3. Immunization</a:t>
            </a:r>
          </a:p>
          <a:p>
            <a:r>
              <a:rPr sz="1800">
                <a:solidFill>
                  <a:srgbClr val="282828"/>
                </a:solidFill>
              </a:rPr>
              <a:t>Immunization protects children from many dangerous diseases.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Polio  ,Measles ,Tuberculosis ,Diphtheria ,Tetanus</a:t>
            </a:r>
          </a:p>
          <a:p>
            <a:r>
              <a:rPr sz="1800">
                <a:solidFill>
                  <a:srgbClr val="282828"/>
                </a:solidFill>
              </a:rPr>
              <a:t>Vaccination is one of the most effective preventive measures.</a:t>
            </a:r>
          </a:p>
          <a:p>
            <a:r>
              <a:rPr sz="1800">
                <a:solidFill>
                  <a:srgbClr val="282828"/>
                </a:solidFill>
              </a:rPr>
              <a:t>4. Nutrition</a:t>
            </a:r>
          </a:p>
          <a:p>
            <a:r>
              <a:rPr sz="1800">
                <a:solidFill>
                  <a:srgbClr val="282828"/>
                </a:solidFill>
              </a:rPr>
              <a:t>Proper nutrition is essential for child growth.</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Includes:</a:t>
            </a:r>
          </a:p>
        </p:txBody>
      </p:sp>
      <p:sp>
        <p:nvSpPr>
          <p:cNvPr id="3" name="Content Placeholder 2"/>
          <p:cNvSpPr>
            <a:spLocks noGrp="1"/>
          </p:cNvSpPr>
          <p:nvPr>
            <p:ph idx="1"/>
          </p:nvPr>
        </p:nvSpPr>
        <p:spPr/>
        <p:txBody>
          <a:bodyPr/>
          <a:lstStyle/>
          <a:p>
            <a:r>
              <a:rPr sz="1800">
                <a:solidFill>
                  <a:srgbClr val="282828"/>
                </a:solidFill>
              </a:rPr>
              <a:t>Breastfeeding</a:t>
            </a:r>
          </a:p>
          <a:p>
            <a:r>
              <a:rPr sz="1800">
                <a:solidFill>
                  <a:srgbClr val="282828"/>
                </a:solidFill>
              </a:rPr>
              <a:t>Complementary feeding</a:t>
            </a:r>
          </a:p>
          <a:p>
            <a:r>
              <a:rPr sz="1800">
                <a:solidFill>
                  <a:srgbClr val="282828"/>
                </a:solidFill>
              </a:rPr>
              <a:t>Balanced diet</a:t>
            </a:r>
          </a:p>
          <a:p>
            <a:r>
              <a:rPr sz="1800">
                <a:solidFill>
                  <a:srgbClr val="282828"/>
                </a:solidFill>
              </a:rPr>
              <a:t>Vitamin supplementation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Common nutritional problems:</a:t>
            </a:r>
          </a:p>
        </p:txBody>
      </p:sp>
      <p:sp>
        <p:nvSpPr>
          <p:cNvPr id="3" name="Content Placeholder 2"/>
          <p:cNvSpPr>
            <a:spLocks noGrp="1"/>
          </p:cNvSpPr>
          <p:nvPr>
            <p:ph idx="1"/>
          </p:nvPr>
        </p:nvSpPr>
        <p:spPr/>
        <p:txBody>
          <a:bodyPr/>
          <a:lstStyle/>
          <a:p>
            <a:r>
              <a:rPr sz="1800">
                <a:solidFill>
                  <a:srgbClr val="282828"/>
                </a:solidFill>
              </a:rPr>
              <a:t>Malnutrition</a:t>
            </a:r>
          </a:p>
          <a:p>
            <a:r>
              <a:rPr sz="1800">
                <a:solidFill>
                  <a:srgbClr val="282828"/>
                </a:solidFill>
              </a:rPr>
              <a:t>Anemia</a:t>
            </a:r>
          </a:p>
          <a:p>
            <a:r>
              <a:rPr sz="1800">
                <a:solidFill>
                  <a:srgbClr val="282828"/>
                </a:solidFill>
              </a:rPr>
              <a:t>Vitamin deficiencies</a:t>
            </a:r>
          </a:p>
          <a:p>
            <a:r>
              <a:rPr sz="1800">
                <a:solidFill>
                  <a:srgbClr val="282828"/>
                </a:solidFill>
              </a:rPr>
              <a:t>5. Growth Monitoring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Regular measurement of:</a:t>
            </a:r>
          </a:p>
        </p:txBody>
      </p:sp>
      <p:sp>
        <p:nvSpPr>
          <p:cNvPr id="3" name="Content Placeholder 2"/>
          <p:cNvSpPr>
            <a:spLocks noGrp="1"/>
          </p:cNvSpPr>
          <p:nvPr>
            <p:ph idx="1"/>
          </p:nvPr>
        </p:nvSpPr>
        <p:spPr/>
        <p:txBody>
          <a:bodyPr/>
          <a:lstStyle/>
          <a:p>
            <a:r>
              <a:rPr sz="1800">
                <a:solidFill>
                  <a:srgbClr val="282828"/>
                </a:solidFill>
              </a:rPr>
              <a:t>Weight</a:t>
            </a:r>
          </a:p>
          <a:p>
            <a:r>
              <a:rPr sz="1800">
                <a:solidFill>
                  <a:srgbClr val="282828"/>
                </a:solidFill>
              </a:rPr>
              <a:t>Height</a:t>
            </a:r>
          </a:p>
          <a:p>
            <a:r>
              <a:rPr sz="1800">
                <a:solidFill>
                  <a:srgbClr val="282828"/>
                </a:solidFill>
              </a:rPr>
              <a:t>Head circumference</a:t>
            </a:r>
          </a:p>
          <a:p>
            <a:r>
              <a:rPr sz="1800">
                <a:solidFill>
                  <a:srgbClr val="282828"/>
                </a:solidFill>
              </a:rPr>
              <a:t>Mid upper arm circumference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Growth charts help identify:</a:t>
            </a:r>
          </a:p>
        </p:txBody>
      </p:sp>
      <p:sp>
        <p:nvSpPr>
          <p:cNvPr id="3" name="Content Placeholder 2"/>
          <p:cNvSpPr>
            <a:spLocks noGrp="1"/>
          </p:cNvSpPr>
          <p:nvPr>
            <p:ph idx="1"/>
          </p:nvPr>
        </p:nvSpPr>
        <p:spPr/>
        <p:txBody>
          <a:bodyPr/>
          <a:lstStyle/>
          <a:p>
            <a:r>
              <a:rPr sz="1800">
                <a:solidFill>
                  <a:srgbClr val="282828"/>
                </a:solidFill>
              </a:rPr>
              <a:t>Malnutrition</a:t>
            </a:r>
          </a:p>
          <a:p>
            <a:r>
              <a:rPr sz="1800">
                <a:solidFill>
                  <a:srgbClr val="282828"/>
                </a:solidFill>
              </a:rPr>
              <a:t>Growth retardation</a:t>
            </a:r>
          </a:p>
          <a:p>
            <a:r>
              <a:rPr sz="1800">
                <a:solidFill>
                  <a:srgbClr val="282828"/>
                </a:solidFill>
              </a:rPr>
              <a:t>6. Developmental Surveillance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Monitoring developmental milestones such as:</a:t>
            </a:r>
          </a:p>
        </p:txBody>
      </p:sp>
      <p:sp>
        <p:nvSpPr>
          <p:cNvPr id="3" name="Content Placeholder 2"/>
          <p:cNvSpPr>
            <a:spLocks noGrp="1"/>
          </p:cNvSpPr>
          <p:nvPr>
            <p:ph idx="1"/>
          </p:nvPr>
        </p:nvSpPr>
        <p:spPr/>
        <p:txBody>
          <a:bodyPr/>
          <a:lstStyle/>
          <a:p>
            <a:r>
              <a:rPr sz="1800">
                <a:solidFill>
                  <a:srgbClr val="282828"/>
                </a:solidFill>
              </a:rPr>
              <a:t>Sitting ,Walking ,Talking ,Social interaction</a:t>
            </a:r>
          </a:p>
          <a:p>
            <a:r>
              <a:rPr sz="1800">
                <a:solidFill>
                  <a:srgbClr val="282828"/>
                </a:solidFill>
              </a:rPr>
              <a:t>Purpose: Early detection of developmental delay.</a:t>
            </a:r>
          </a:p>
          <a:p>
            <a:r>
              <a:rPr sz="1800">
                <a:solidFill>
                  <a:srgbClr val="282828"/>
                </a:solidFill>
              </a:rPr>
              <a:t>7. Prevention of Infectious Diseases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Methods include:</a:t>
            </a:r>
          </a:p>
        </p:txBody>
      </p:sp>
      <p:sp>
        <p:nvSpPr>
          <p:cNvPr id="3" name="Content Placeholder 2"/>
          <p:cNvSpPr>
            <a:spLocks noGrp="1"/>
          </p:cNvSpPr>
          <p:nvPr>
            <p:ph idx="1"/>
          </p:nvPr>
        </p:nvSpPr>
        <p:spPr/>
        <p:txBody>
          <a:bodyPr/>
          <a:lstStyle/>
          <a:p>
            <a:r>
              <a:rPr sz="1800">
                <a:solidFill>
                  <a:srgbClr val="282828"/>
                </a:solidFill>
              </a:rPr>
              <a:t>Immunization</a:t>
            </a:r>
          </a:p>
          <a:p>
            <a:r>
              <a:rPr sz="1800">
                <a:solidFill>
                  <a:srgbClr val="282828"/>
                </a:solidFill>
              </a:rPr>
              <a:t>Hygiene practices</a:t>
            </a:r>
          </a:p>
          <a:p>
            <a:r>
              <a:rPr sz="1800">
                <a:solidFill>
                  <a:srgbClr val="282828"/>
                </a:solidFill>
              </a:rPr>
              <a:t>Safe drinking water</a:t>
            </a:r>
          </a:p>
          <a:p>
            <a:r>
              <a:rPr sz="1800">
                <a:solidFill>
                  <a:srgbClr val="282828"/>
                </a:solidFill>
              </a:rPr>
              <a:t>Sanitation</a:t>
            </a:r>
          </a:p>
          <a:p>
            <a:r>
              <a:rPr sz="1800">
                <a:solidFill>
                  <a:srgbClr val="282828"/>
                </a:solidFill>
              </a:rPr>
              <a:t>8. Prevention of Accidents</a:t>
            </a:r>
          </a:p>
          <a:p>
            <a:r>
              <a:rPr sz="1800">
                <a:solidFill>
                  <a:srgbClr val="282828"/>
                </a:solidFill>
              </a:rPr>
              <a:t>Children are at high risk of accidents.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Burns</a:t>
            </a:r>
          </a:p>
          <a:p>
            <a:r>
              <a:rPr sz="1800">
                <a:solidFill>
                  <a:srgbClr val="282828"/>
                </a:solidFill>
              </a:rPr>
              <a:t>Falls</a:t>
            </a:r>
          </a:p>
          <a:p>
            <a:r>
              <a:rPr sz="1800">
                <a:solidFill>
                  <a:srgbClr val="282828"/>
                </a:solidFill>
              </a:rPr>
              <a:t>Road accidents</a:t>
            </a:r>
          </a:p>
          <a:p>
            <a:r>
              <a:rPr sz="1800">
                <a:solidFill>
                  <a:srgbClr val="282828"/>
                </a:solidFill>
              </a:rPr>
              <a:t>Poisoning</a:t>
            </a:r>
          </a:p>
          <a:p>
            <a:r>
              <a:rPr sz="1800">
                <a:solidFill>
                  <a:srgbClr val="282828"/>
                </a:solidFill>
              </a:rPr>
              <a:t>Parents should be educated about safety measures.</a:t>
            </a:r>
          </a:p>
          <a:p>
            <a:r>
              <a:rPr sz="1800">
                <a:solidFill>
                  <a:srgbClr val="282828"/>
                </a:solidFill>
              </a:rPr>
              <a:t>9. School Health Services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School health programs include:</a:t>
            </a:r>
          </a:p>
        </p:txBody>
      </p:sp>
      <p:sp>
        <p:nvSpPr>
          <p:cNvPr id="3" name="Content Placeholder 2"/>
          <p:cNvSpPr>
            <a:spLocks noGrp="1"/>
          </p:cNvSpPr>
          <p:nvPr>
            <p:ph idx="1"/>
          </p:nvPr>
        </p:nvSpPr>
        <p:spPr/>
        <p:txBody>
          <a:bodyPr/>
          <a:lstStyle/>
          <a:p>
            <a:r>
              <a:rPr sz="1800">
                <a:solidFill>
                  <a:srgbClr val="282828"/>
                </a:solidFill>
              </a:rPr>
              <a:t>Health screening</a:t>
            </a:r>
          </a:p>
          <a:p>
            <a:r>
              <a:rPr sz="1800">
                <a:solidFill>
                  <a:srgbClr val="282828"/>
                </a:solidFill>
              </a:rPr>
              <a:t>Vision testing</a:t>
            </a:r>
          </a:p>
          <a:p>
            <a:r>
              <a:rPr sz="1800">
                <a:solidFill>
                  <a:srgbClr val="282828"/>
                </a:solidFill>
              </a:rPr>
              <a:t>Dental checkups</a:t>
            </a:r>
          </a:p>
          <a:p>
            <a:r>
              <a:rPr sz="1800">
                <a:solidFill>
                  <a:srgbClr val="282828"/>
                </a:solidFill>
              </a:rPr>
              <a:t>Nutrition programs</a:t>
            </a:r>
          </a:p>
          <a:p>
            <a:r>
              <a:rPr sz="1800">
                <a:solidFill>
                  <a:srgbClr val="282828"/>
                </a:solidFill>
              </a:rPr>
              <a:t>Purpose: To maintain the health of school children.</a:t>
            </a:r>
          </a:p>
          <a:p>
            <a:r>
              <a:rPr sz="1800">
                <a:solidFill>
                  <a:srgbClr val="282828"/>
                </a:solidFill>
              </a:rPr>
              <a:t>10. Mental Health Promotion</a:t>
            </a:r>
          </a:p>
          <a:p>
            <a:r>
              <a:rPr sz="1800">
                <a:solidFill>
                  <a:srgbClr val="282828"/>
                </a:solidFill>
              </a:rPr>
              <a:t>Mental health is an important part of child development.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Includes:</a:t>
            </a:r>
          </a:p>
        </p:txBody>
      </p:sp>
      <p:sp>
        <p:nvSpPr>
          <p:cNvPr id="3" name="Content Placeholder 2"/>
          <p:cNvSpPr>
            <a:spLocks noGrp="1"/>
          </p:cNvSpPr>
          <p:nvPr>
            <p:ph idx="1"/>
          </p:nvPr>
        </p:nvSpPr>
        <p:spPr/>
        <p:txBody>
          <a:bodyPr/>
          <a:lstStyle/>
          <a:p>
            <a:r>
              <a:rPr sz="1800">
                <a:solidFill>
                  <a:srgbClr val="282828"/>
                </a:solidFill>
              </a:rPr>
              <a:t>Emotional support ,Positive parenting ,Counseling</a:t>
            </a:r>
          </a:p>
          <a:p>
            <a:r>
              <a:rPr sz="1800">
                <a:solidFill>
                  <a:srgbClr val="282828"/>
                </a:solidFill>
              </a:rPr>
              <a:t>11. Adolescent Health Care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Adolescents face many issues such as:</a:t>
            </a:r>
          </a:p>
        </p:txBody>
      </p:sp>
      <p:sp>
        <p:nvSpPr>
          <p:cNvPr id="3" name="Content Placeholder 2"/>
          <p:cNvSpPr>
            <a:spLocks noGrp="1"/>
          </p:cNvSpPr>
          <p:nvPr>
            <p:ph idx="1"/>
          </p:nvPr>
        </p:nvSpPr>
        <p:spPr/>
        <p:txBody>
          <a:bodyPr/>
          <a:lstStyle/>
          <a:p>
            <a:r>
              <a:rPr sz="1800">
                <a:solidFill>
                  <a:srgbClr val="282828"/>
                </a:solidFill>
              </a:rPr>
              <a:t>Puberty changes ,Nutritional needs ,Mental health problems</a:t>
            </a:r>
          </a:p>
          <a:p>
            <a:r>
              <a:rPr sz="1800">
                <a:solidFill>
                  <a:srgbClr val="282828"/>
                </a:solidFill>
              </a:rPr>
              <a:t>Preventive pediatrics addresses these issues.</a:t>
            </a:r>
          </a:p>
          <a:p>
            <a:r>
              <a:rPr sz="1800">
                <a:solidFill>
                  <a:srgbClr val="282828"/>
                </a:solidFill>
              </a:rPr>
              <a:t>12. Health Education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Educating parents and communities about:</a:t>
            </a:r>
          </a:p>
        </p:txBody>
      </p:sp>
      <p:sp>
        <p:nvSpPr>
          <p:cNvPr id="3" name="Content Placeholder 2"/>
          <p:cNvSpPr>
            <a:spLocks noGrp="1"/>
          </p:cNvSpPr>
          <p:nvPr>
            <p:ph idx="1"/>
          </p:nvPr>
        </p:nvSpPr>
        <p:spPr/>
        <p:txBody>
          <a:bodyPr/>
          <a:lstStyle/>
          <a:p>
            <a:r>
              <a:rPr sz="1800">
                <a:solidFill>
                  <a:srgbClr val="282828"/>
                </a:solidFill>
              </a:rPr>
              <a:t>Child nutrition</a:t>
            </a:r>
          </a:p>
          <a:p>
            <a:r>
              <a:rPr sz="1800">
                <a:solidFill>
                  <a:srgbClr val="282828"/>
                </a:solidFill>
              </a:rPr>
              <a:t>Immunization</a:t>
            </a:r>
          </a:p>
          <a:p>
            <a:r>
              <a:rPr sz="1800">
                <a:solidFill>
                  <a:srgbClr val="282828"/>
                </a:solidFill>
              </a:rPr>
              <a:t>Hygiene</a:t>
            </a:r>
          </a:p>
          <a:p>
            <a:r>
              <a:rPr sz="1800">
                <a:solidFill>
                  <a:srgbClr val="282828"/>
                </a:solidFill>
              </a:rPr>
              <a:t>Disease prevention</a:t>
            </a:r>
          </a:p>
          <a:p>
            <a:r>
              <a:rPr sz="1800">
                <a:solidFill>
                  <a:srgbClr val="282828"/>
                </a:solidFill>
              </a:rPr>
              <a:t>National Policies and programs related to Preventive Pediatrics</a:t>
            </a:r>
          </a:p>
          <a:p>
            <a:r>
              <a:rPr sz="1800">
                <a:solidFill>
                  <a:srgbClr val="282828"/>
                </a:solidFill>
              </a:rPr>
              <a:t>Reproductive child health program I and II Child survival and safe motherhood program Baby-friendly hospital initiative</a:t>
            </a:r>
          </a:p>
          <a:p>
            <a:r>
              <a:rPr sz="1800">
                <a:solidFill>
                  <a:srgbClr val="282828"/>
                </a:solidFill>
              </a:rPr>
              <a:t>Integrated child development services Universal immunization program Under five clinics</a:t>
            </a:r>
          </a:p>
          <a:p>
            <a:r>
              <a:rPr sz="1800">
                <a:solidFill>
                  <a:srgbClr val="282828"/>
                </a:solidFill>
              </a:rPr>
              <a:t>Child guidance clinics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Educating parents and communities about:</a:t>
            </a:r>
          </a:p>
        </p:txBody>
      </p:sp>
      <p:sp>
        <p:nvSpPr>
          <p:cNvPr id="3" name="Content Placeholder 2"/>
          <p:cNvSpPr>
            <a:spLocks noGrp="1"/>
          </p:cNvSpPr>
          <p:nvPr>
            <p:ph idx="1"/>
          </p:nvPr>
        </p:nvSpPr>
        <p:spPr/>
        <p:txBody>
          <a:bodyPr/>
          <a:lstStyle/>
          <a:p>
            <a:r>
              <a:rPr sz="1800">
                <a:solidFill>
                  <a:srgbClr val="282828"/>
                </a:solidFill>
              </a:rPr>
              <a:t>School health services</a:t>
            </a:r>
          </a:p>
          <a:p>
            <a:r>
              <a:rPr sz="1800">
                <a:solidFill>
                  <a:srgbClr val="282828"/>
                </a:solidFill>
              </a:rPr>
              <a:t>National policy for children</a:t>
            </a:r>
          </a:p>
          <a:p>
            <a:r>
              <a:rPr sz="1800">
                <a:solidFill>
                  <a:srgbClr val="282828"/>
                </a:solidFill>
              </a:rPr>
              <a:t>Nutritional programs</a:t>
            </a:r>
          </a:p>
          <a:p>
            <a:r>
              <a:rPr sz="1800">
                <a:solidFill>
                  <a:srgbClr val="282828"/>
                </a:solidFill>
              </a:rPr>
              <a:t>National and international child welfare agencies and their services</a:t>
            </a:r>
          </a:p>
          <a:p>
            <a:r>
              <a:rPr sz="1800">
                <a:solidFill>
                  <a:srgbClr val="282828"/>
                </a:solidFill>
              </a:rPr>
              <a:t>Child placement, like orphanages, adoption, etc. Mission Indradhanush.</a:t>
            </a:r>
          </a:p>
          <a:p>
            <a:r>
              <a:rPr sz="1800">
                <a:solidFill>
                  <a:srgbClr val="282828"/>
                </a:solidFill>
              </a:rPr>
              <a:t>Components of Preventive Pediatrics</a:t>
            </a:r>
          </a:p>
          <a:p>
            <a:r>
              <a:rPr sz="1800">
                <a:solidFill>
                  <a:srgbClr val="282828"/>
                </a:solidFill>
              </a:rPr>
              <a:t>Nutritional surveillance</a:t>
            </a:r>
          </a:p>
          <a:p>
            <a:r>
              <a:rPr sz="1800">
                <a:solidFill>
                  <a:srgbClr val="282828"/>
                </a:solidFill>
              </a:rPr>
              <a:t>Health care and health maintenance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Educating parents and communities about:</a:t>
            </a:r>
          </a:p>
        </p:txBody>
      </p:sp>
      <p:sp>
        <p:nvSpPr>
          <p:cNvPr id="3" name="Content Placeholder 2"/>
          <p:cNvSpPr>
            <a:spLocks noGrp="1"/>
          </p:cNvSpPr>
          <p:nvPr>
            <p:ph idx="1"/>
          </p:nvPr>
        </p:nvSpPr>
        <p:spPr/>
        <p:txBody>
          <a:bodyPr/>
          <a:lstStyle/>
          <a:p>
            <a:r>
              <a:rPr sz="1800">
                <a:solidFill>
                  <a:srgbClr val="282828"/>
                </a:solidFill>
              </a:rPr>
              <a:t>Immunizations</a:t>
            </a:r>
          </a:p>
          <a:p>
            <a:r>
              <a:rPr sz="1800">
                <a:solidFill>
                  <a:srgbClr val="282828"/>
                </a:solidFill>
              </a:rPr>
              <a:t>Safety and accident prevention</a:t>
            </a:r>
          </a:p>
          <a:p>
            <a:r>
              <a:rPr sz="1800">
                <a:solidFill>
                  <a:srgbClr val="282828"/>
                </a:solidFill>
              </a:rPr>
              <a:t>Healthful climate in the home, school and society,</a:t>
            </a:r>
          </a:p>
          <a:p>
            <a:r>
              <a:rPr sz="1800">
                <a:solidFill>
                  <a:srgbClr val="282828"/>
                </a:solidFill>
              </a:rPr>
              <a:t>Preventive Services</a:t>
            </a:r>
          </a:p>
          <a:p>
            <a:r>
              <a:rPr sz="1800">
                <a:solidFill>
                  <a:srgbClr val="282828"/>
                </a:solidFill>
              </a:rPr>
              <a:t>Nutrition</a:t>
            </a:r>
          </a:p>
          <a:p>
            <a:r>
              <a:rPr sz="1800">
                <a:solidFill>
                  <a:srgbClr val="282828"/>
                </a:solidFill>
              </a:rPr>
              <a:t>Adequate nutrition since birth is very essential to prevent various childhood illnesses. Exclusive breastfeeding till 6 months of age is advised in infants. Complementary feeding should be started from 6 months of age as breast milk alone cannot meet the nutritional requirement after 6 months of age. Child can eat all family foods from 1 year of age. Nutritional assessment should be done periodically to identify malnutrition.</a:t>
            </a:r>
          </a:p>
          <a:p>
            <a:r>
              <a:rPr sz="1800">
                <a:solidFill>
                  <a:srgbClr val="282828"/>
                </a:solidFill>
              </a:rPr>
              <a:t>Health Maintenance</a:t>
            </a:r>
          </a:p>
          <a:p>
            <a:r>
              <a:rPr sz="1800">
                <a:solidFill>
                  <a:srgbClr val="282828"/>
                </a:solidFill>
              </a:rPr>
              <a:t>Growth monitoring and periodic health check-up is necessary for ensuring good health.</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American Academy of Pediatrics recommends for well child visit at the following intervals:</a:t>
            </a:r>
          </a:p>
        </p:txBody>
      </p:sp>
      <p:sp>
        <p:nvSpPr>
          <p:cNvPr id="3" name="Content Placeholder 2"/>
          <p:cNvSpPr>
            <a:spLocks noGrp="1"/>
          </p:cNvSpPr>
          <p:nvPr>
            <p:ph idx="1"/>
          </p:nvPr>
        </p:nvSpPr>
        <p:spPr/>
        <p:txBody>
          <a:bodyPr/>
          <a:lstStyle/>
          <a:p>
            <a:r>
              <a:rPr sz="1800">
                <a:solidFill>
                  <a:srgbClr val="282828"/>
                </a:solidFill>
              </a:rPr>
              <a:t>Infancy (Newborn to &lt;9 months): Every newborn should be shown in the first week of discharge, ideally at 3-5 days and then at one month. Most important issues to address: weight, jaundice, breastfeeding. Next visits may be done at 2, 4, 6, 9 months of age.</a:t>
            </a:r>
          </a:p>
          <a:p>
            <a:r>
              <a:rPr sz="1800">
                <a:solidFill>
                  <a:srgbClr val="282828"/>
                </a:solidFill>
              </a:rPr>
              <a:t>Early childhood (12 months to 4 years): Visit is recommended at 12, 15, 18, 24 and 30-month-old; then yearly in 3rd and 4th year.</a:t>
            </a:r>
          </a:p>
          <a:p>
            <a:r>
              <a:rPr sz="1800">
                <a:solidFill>
                  <a:srgbClr val="282828"/>
                </a:solidFill>
              </a:rPr>
              <a:t>Middle childhood to adolescence: Once in a year.</a:t>
            </a:r>
          </a:p>
          <a:p>
            <a:r>
              <a:rPr sz="1800">
                <a:solidFill>
                  <a:srgbClr val="282828"/>
                </a:solidFill>
              </a:rPr>
              <a:t>include anthropometric measurements, sensory screening, developmental/behavioral screening, physical examination, oral health and anticipatory guidance. Growth chart should be maintained for every child.Health check-up should include anthropometric measurement ,sensory screening, developmental/behavioral screening ,physical examination ,</a:t>
            </a:r>
          </a:p>
          <a:p>
            <a:r>
              <a:rPr sz="1800">
                <a:solidFill>
                  <a:srgbClr val="282828"/>
                </a:solidFill>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noAutofit/>
          </a:bodyPr>
          <a:lstStyle/>
          <a:p>
            <a:r>
              <a:rPr sz="1600" dirty="0">
                <a:solidFill>
                  <a:srgbClr val="282828"/>
                </a:solidFill>
              </a:rPr>
              <a:t>Immunization is a process by which a person develops immunity against certain preventable diseases by introducing antigens or antibodies into the body. Immunization is one of the most cost effective and beneficial disease preventive measures.</a:t>
            </a:r>
          </a:p>
          <a:p>
            <a:r>
              <a:rPr sz="1600" dirty="0">
                <a:solidFill>
                  <a:srgbClr val="282828"/>
                </a:solidFill>
              </a:rPr>
              <a:t>Active immunity is a process by which a protective response occurs following exposure to an infectious agent or ay administration of antigen in the form of live or killed vaccine or toxoid</a:t>
            </a:r>
          </a:p>
          <a:p>
            <a:r>
              <a:rPr sz="1600" dirty="0">
                <a:solidFill>
                  <a:srgbClr val="282828"/>
                </a:solidFill>
              </a:rPr>
              <a:t>is Passive immunity is a process of providing immunity by direct administration of antibodies into the body in the form of immunoglobulin.</a:t>
            </a:r>
          </a:p>
          <a:p>
            <a:r>
              <a:rPr sz="1600" dirty="0">
                <a:solidFill>
                  <a:srgbClr val="282828"/>
                </a:solidFill>
              </a:rPr>
              <a:t>The vaccines are composed of one or more antigens of  a pathogenic organism which is administered to a previously al unexposed person to develop an immune response against a particular disease.</a:t>
            </a:r>
          </a:p>
          <a:p>
            <a:r>
              <a:rPr sz="1600" dirty="0">
                <a:solidFill>
                  <a:srgbClr val="282828"/>
                </a:solidFill>
              </a:rPr>
              <a:t>Principles of Vaccination</a:t>
            </a:r>
          </a:p>
          <a:p>
            <a:r>
              <a:rPr sz="1600" dirty="0">
                <a:solidFill>
                  <a:srgbClr val="282828"/>
                </a:solidFill>
              </a:rPr>
              <a:t>Minimum interval of 4 weeks is recommended between the administration of two live vaccines, if not administered simultaneously. Killed vaccines may be administered simultaneously or at any interval between the doses.</a:t>
            </a:r>
          </a:p>
          <a:p>
            <a:r>
              <a:rPr sz="1600" dirty="0">
                <a:solidFill>
                  <a:srgbClr val="282828"/>
                </a:solidFill>
              </a:rPr>
              <a:t>There is no minimum recommended time interval between two types of vaccines.</a:t>
            </a:r>
          </a:p>
          <a:p>
            <a:r>
              <a:rPr sz="1600" dirty="0">
                <a:solidFill>
                  <a:srgbClr val="282828"/>
                </a:solidFill>
              </a:rPr>
              <a:t>In case of delay or lapse in any dose of vaccine, missed dose can be given within a certain period depending upon the type of vaccine without repeating the entire schedule.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Mixing of vaccines in same syringe should never be done unless it is approved by the manufacturer.</a:t>
            </a:r>
          </a:p>
          <a:p>
            <a:r>
              <a:rPr sz="1800">
                <a:solidFill>
                  <a:srgbClr val="282828"/>
                </a:solidFill>
              </a:rPr>
              <a:t>Active immunization is not advisable after the exposure to rabies, measles, varicella, tetanus and hepatitis B.</a:t>
            </a:r>
          </a:p>
          <a:p>
            <a:r>
              <a:rPr sz="1800">
                <a:solidFill>
                  <a:srgbClr val="282828"/>
                </a:solidFill>
              </a:rPr>
              <a:t>Compliance with recommended dose and route o immunization ensures efficacy and fewer side effects.</a:t>
            </a:r>
          </a:p>
          <a:p>
            <a:r>
              <a:rPr sz="1800">
                <a:solidFill>
                  <a:srgbClr val="282828"/>
                </a:solidFill>
              </a:rPr>
              <a:t>Live vaccines are contraindicated in immunosuppresse patients and those getting immunosuppressive medication.</a:t>
            </a:r>
          </a:p>
          <a:p>
            <a:r>
              <a:rPr sz="1800">
                <a:solidFill>
                  <a:srgbClr val="282828"/>
                </a:solidFill>
              </a:rPr>
              <a:t>Types of Vaccines</a:t>
            </a:r>
          </a:p>
          <a:p>
            <a:r>
              <a:rPr sz="1800">
                <a:solidFill>
                  <a:srgbClr val="282828"/>
                </a:solidFill>
              </a:rPr>
              <a:t>Major Causes of Accidents in Children</a:t>
            </a:r>
          </a:p>
          <a:p>
            <a:r>
              <a:rPr sz="1800">
                <a:solidFill>
                  <a:srgbClr val="282828"/>
                </a:solidFill>
              </a:rPr>
              <a:t>Lack of supervision</a:t>
            </a:r>
          </a:p>
          <a:p>
            <a:r>
              <a:rPr sz="1800">
                <a:solidFill>
                  <a:srgbClr val="282828"/>
                </a:solidFill>
              </a:rPr>
              <a:t>Inadequate infrastructure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Excessive curiosity of child to explore the new things</a:t>
            </a:r>
          </a:p>
          <a:p>
            <a:r>
              <a:rPr sz="1800">
                <a:solidFill>
                  <a:srgbClr val="282828"/>
                </a:solidFill>
              </a:rPr>
              <a:t>Newly developed motor skills</a:t>
            </a:r>
          </a:p>
          <a:p>
            <a:r>
              <a:rPr sz="1800">
                <a:solidFill>
                  <a:srgbClr val="282828"/>
                </a:solidFill>
              </a:rPr>
              <a:t>Attention seeking behavior</a:t>
            </a:r>
          </a:p>
          <a:p>
            <a:r>
              <a:rPr sz="1800">
                <a:solidFill>
                  <a:srgbClr val="282828"/>
                </a:solidFill>
              </a:rPr>
              <a:t>Anxiety and stress</a:t>
            </a:r>
          </a:p>
          <a:p>
            <a:r>
              <a:rPr sz="1800">
                <a:solidFill>
                  <a:srgbClr val="282828"/>
                </a:solidFill>
              </a:rPr>
              <a:t>Types of Accidents Occurring in Children</a:t>
            </a:r>
          </a:p>
          <a:p>
            <a:r>
              <a:rPr sz="1800">
                <a:solidFill>
                  <a:srgbClr val="282828"/>
                </a:solidFill>
              </a:rPr>
              <a:t>Aspiration			Burns</a:t>
            </a:r>
          </a:p>
          <a:p>
            <a:r>
              <a:rPr sz="1800">
                <a:solidFill>
                  <a:srgbClr val="282828"/>
                </a:solidFill>
              </a:rPr>
              <a:t>Suffocation 			Motor vehicle accidents</a:t>
            </a:r>
          </a:p>
          <a:p>
            <a:r>
              <a:rPr sz="1800">
                <a:solidFill>
                  <a:srgbClr val="282828"/>
                </a:solidFill>
              </a:rPr>
              <a:t>Fall				Bodily Damage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Poisoning</a:t>
            </a:r>
          </a:p>
          <a:p>
            <a:r>
              <a:rPr sz="1800">
                <a:solidFill>
                  <a:srgbClr val="282828"/>
                </a:solidFill>
              </a:rPr>
              <a:t>Accident Prevention in Infants</a:t>
            </a:r>
          </a:p>
          <a:p>
            <a:r>
              <a:rPr sz="1800">
                <a:solidFill>
                  <a:srgbClr val="282828"/>
                </a:solidFill>
              </a:rPr>
              <a:t>Toddlers learn to walk, run, climb and can ride tricycle. Their newly acquired skills put them in danger of getting hurt. Parents should exercise strict supervision while giving toddlers opportunity to enjoy their new learning.</a:t>
            </a:r>
          </a:p>
          <a:p>
            <a:r>
              <a:rPr sz="1800">
                <a:solidFill>
                  <a:srgbClr val="282828"/>
                </a:solidFill>
              </a:rPr>
              <a:t>Preventive Strategies for Toddlers</a:t>
            </a:r>
          </a:p>
          <a:p>
            <a:r>
              <a:rPr sz="1800">
                <a:solidFill>
                  <a:srgbClr val="282828"/>
                </a:solidFill>
              </a:rPr>
              <a:t>Falls</a:t>
            </a:r>
          </a:p>
          <a:p>
            <a:r>
              <a:rPr sz="1800">
                <a:solidFill>
                  <a:srgbClr val="282828"/>
                </a:solidFill>
              </a:rPr>
              <a:t>Install guards for windows and balconies to prevent children from falling.</a:t>
            </a:r>
          </a:p>
          <a:p>
            <a:r>
              <a:rPr sz="1800">
                <a:solidFill>
                  <a:srgbClr val="282828"/>
                </a:solidFill>
              </a:rPr>
              <a:t>Use gates for stairways and doorways to keep the child away from areas that are not child-proof.</a:t>
            </a:r>
          </a:p>
          <a:p>
            <a:r>
              <a:rPr sz="1800">
                <a:solidFill>
                  <a:srgbClr val="282828"/>
                </a:solidFill>
              </a:rPr>
              <a:t>Avoid using foldable chairs and tables since they are not stable. They can collapse and injure your child.</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Add safety rails to beds or have the child sleep in a low bed. Make sure the child is properly strapped into highchairs, shopping carts, and car seats.</a:t>
            </a:r>
          </a:p>
          <a:p>
            <a:r>
              <a:rPr sz="1800">
                <a:solidFill>
                  <a:srgbClr val="282828"/>
                </a:solidFill>
              </a:rPr>
              <a:t>Dress the toddler with safe clothing, tie shoe laces properly.</a:t>
            </a:r>
          </a:p>
          <a:p>
            <a:r>
              <a:rPr sz="1800">
                <a:solidFill>
                  <a:srgbClr val="282828"/>
                </a:solidFill>
              </a:rPr>
              <a:t>Supervise at playgrounds.</a:t>
            </a:r>
          </a:p>
          <a:p>
            <a:r>
              <a:rPr sz="1800">
                <a:solidFill>
                  <a:srgbClr val="282828"/>
                </a:solidFill>
              </a:rPr>
              <a:t>Burns</a:t>
            </a:r>
          </a:p>
          <a:p>
            <a:r>
              <a:rPr sz="1800">
                <a:solidFill>
                  <a:srgbClr val="282828"/>
                </a:solidFill>
              </a:rPr>
              <a:t>Do not handle hot liquids while holding the child.</a:t>
            </a:r>
          </a:p>
          <a:p>
            <a:r>
              <a:rPr sz="1800">
                <a:solidFill>
                  <a:srgbClr val="282828"/>
                </a:solidFill>
              </a:rPr>
              <a:t>Do not leave hot food, hot drinks, or any other hot objects near the edge of a table or within the child's reach.</a:t>
            </a:r>
          </a:p>
          <a:p>
            <a:r>
              <a:rPr sz="1800">
                <a:solidFill>
                  <a:srgbClr val="282828"/>
                </a:solidFill>
              </a:rPr>
              <a:t>Do not let the child play near the kitchen, heaters, or other hot appliances.</a:t>
            </a:r>
          </a:p>
          <a:p>
            <a:r>
              <a:rPr sz="1800">
                <a:solidFill>
                  <a:srgbClr val="282828"/>
                </a:solidFill>
              </a:rPr>
              <a:t>Check the water temperature before children wash their hands or take a bath.</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Keep matches and lighted candles away from children.</a:t>
            </a:r>
          </a:p>
          <a:p>
            <a:r>
              <a:rPr sz="1800">
                <a:solidFill>
                  <a:srgbClr val="282828"/>
                </a:solidFill>
              </a:rPr>
              <a:t>Do not keep electrical cords of iron hanging. Install a smoke detector in house.</a:t>
            </a:r>
          </a:p>
          <a:p>
            <a:r>
              <a:rPr sz="1800">
                <a:solidFill>
                  <a:srgbClr val="282828"/>
                </a:solidFill>
              </a:rPr>
              <a:t>Teach the child the concept of hot in terms of stories.</a:t>
            </a:r>
          </a:p>
          <a:p>
            <a:r>
              <a:rPr sz="1800">
                <a:solidFill>
                  <a:srgbClr val="282828"/>
                </a:solidFill>
              </a:rPr>
              <a:t>Poisoning</a:t>
            </a:r>
          </a:p>
          <a:p>
            <a:r>
              <a:rPr sz="1800">
                <a:solidFill>
                  <a:srgbClr val="282828"/>
                </a:solidFill>
              </a:rPr>
              <a:t>Always keep harmful materials in their original containers and locked up. Store them away from any foods. This prevents them from mixing with child's food.</a:t>
            </a:r>
          </a:p>
          <a:p>
            <a:r>
              <a:rPr sz="1800">
                <a:solidFill>
                  <a:srgbClr val="282828"/>
                </a:solidFill>
              </a:rPr>
              <a:t>Do not give the child medication or herbs prescribed for another person</a:t>
            </a:r>
          </a:p>
          <a:p>
            <a:r>
              <a:rPr sz="1800">
                <a:solidFill>
                  <a:srgbClr val="282828"/>
                </a:solidFill>
              </a:rPr>
              <a:t>Use paint that is safe for the child's room and does not contain lead or other harmful materials. Look for non- toxic or low-toxic paints.</a:t>
            </a:r>
          </a:p>
          <a:p>
            <a:r>
              <a:rPr sz="1800">
                <a:solidFill>
                  <a:srgbClr val="282828"/>
                </a:solidFill>
              </a:rPr>
              <a:t>Never remove labels for containers of harmful objects.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Don't allow them to play with medicines.</a:t>
            </a:r>
          </a:p>
          <a:p>
            <a:r>
              <a:rPr sz="1800">
                <a:solidFill>
                  <a:srgbClr val="282828"/>
                </a:solidFill>
              </a:rPr>
              <a:t>Suffocation</a:t>
            </a:r>
          </a:p>
          <a:p>
            <a:r>
              <a:rPr sz="1800">
                <a:solidFill>
                  <a:srgbClr val="282828"/>
                </a:solidFill>
              </a:rPr>
              <a:t>Keep small objects such as pins, coins, bottle caps, and marbles away from children.</a:t>
            </a:r>
          </a:p>
          <a:p>
            <a:r>
              <a:rPr sz="1800">
                <a:solidFill>
                  <a:srgbClr val="282828"/>
                </a:solidFill>
              </a:rPr>
              <a:t>Do not give toys with small parts. Read age guidelines on toy packaging.</a:t>
            </a:r>
          </a:p>
          <a:p>
            <a:r>
              <a:rPr sz="1800">
                <a:solidFill>
                  <a:srgbClr val="282828"/>
                </a:solidFill>
              </a:rPr>
              <a:t>Do not let the child play with plastic bags</a:t>
            </a:r>
          </a:p>
          <a:p>
            <a:r>
              <a:rPr sz="1800">
                <a:solidFill>
                  <a:srgbClr val="282828"/>
                </a:solidFill>
              </a:rPr>
              <a:t>Cut food into small pieces to prevent choking</a:t>
            </a:r>
          </a:p>
          <a:p>
            <a:r>
              <a:rPr sz="1800">
                <a:solidFill>
                  <a:srgbClr val="282828"/>
                </a:solidFill>
              </a:rPr>
              <a:t>Do not give the child nuts, popcorn, hotdogs, hard candy, and chewing gum.</a:t>
            </a:r>
          </a:p>
          <a:p>
            <a:r>
              <a:rPr sz="1800">
                <a:solidFill>
                  <a:srgbClr val="282828"/>
                </a:solidFill>
              </a:rPr>
              <a:t>Do not permit the child to eat while running or playing. Replace or discard old refrigerators, ovens, etc.</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Drowning</a:t>
            </a:r>
          </a:p>
          <a:p>
            <a:r>
              <a:rPr sz="1800">
                <a:solidFill>
                  <a:srgbClr val="282828"/>
                </a:solidFill>
              </a:rPr>
              <a:t>Stay within an arm's length of the child when the child is near any water source. Even children who can swim need to be supervised closely.</a:t>
            </a:r>
          </a:p>
          <a:p>
            <a:r>
              <a:rPr sz="1800">
                <a:solidFill>
                  <a:srgbClr val="282828"/>
                </a:solidFill>
              </a:rPr>
              <a:t>Empty all water from the bathtub or any other container</a:t>
            </a:r>
          </a:p>
          <a:p>
            <a:r>
              <a:rPr sz="1800">
                <a:solidFill>
                  <a:srgbClr val="282828"/>
                </a:solidFill>
              </a:rPr>
              <a:t>after use. A child can drown in &lt;2 inches of water.</a:t>
            </a:r>
          </a:p>
          <a:p>
            <a:r>
              <a:rPr sz="1800">
                <a:solidFill>
                  <a:srgbClr val="282828"/>
                </a:solidFill>
              </a:rPr>
              <a:t>Keep the bathroom doors and toilet lid closed. Teach the child swimming and water safety.</a:t>
            </a:r>
          </a:p>
          <a:p>
            <a:r>
              <a:rPr sz="1800">
                <a:solidFill>
                  <a:srgbClr val="282828"/>
                </a:solidFill>
              </a:rPr>
              <a:t>Make sure that swimming pool is surrounded by a fence that is at least five feet tall.1. Health education</a:t>
            </a:r>
          </a:p>
          <a:p>
            <a:r>
              <a:rPr sz="1800">
                <a:solidFill>
                  <a:srgbClr val="282828"/>
                </a:solidFill>
              </a:rPr>
              <a:t>Motor Vehicle Accidents</a:t>
            </a:r>
          </a:p>
          <a:p>
            <a:r>
              <a:rPr sz="1800">
                <a:solidFill>
                  <a:srgbClr val="282828"/>
                </a:solidFill>
              </a:rPr>
              <a:t>Always strap the toddler into a car seat suitable for his/her height and weight. Only children who are at least one year old and at least 20 pounds should ride facing forward.</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Never hold the child in the car, even for a quick ride.</a:t>
            </a:r>
          </a:p>
          <a:p>
            <a:r>
              <a:rPr sz="1800">
                <a:solidFill>
                  <a:srgbClr val="282828"/>
                </a:solidFill>
              </a:rPr>
              <a:t>Never leave the child alone in the car.</a:t>
            </a:r>
          </a:p>
          <a:p>
            <a:r>
              <a:rPr sz="1800">
                <a:solidFill>
                  <a:srgbClr val="282828"/>
                </a:solidFill>
              </a:rPr>
              <a:t>Always keep a watch on children when they play in the driveway or near the garage.</a:t>
            </a:r>
          </a:p>
          <a:p>
            <a:r>
              <a:rPr sz="1800">
                <a:solidFill>
                  <a:srgbClr val="282828"/>
                </a:solidFill>
              </a:rPr>
              <a:t>Hold children by the hand when crossing streets, parking lots and driveways.</a:t>
            </a:r>
          </a:p>
          <a:p>
            <a:r>
              <a:rPr sz="1800">
                <a:solidFill>
                  <a:srgbClr val="282828"/>
                </a:solidFill>
              </a:rPr>
              <a:t>Bodily Injury</a:t>
            </a:r>
          </a:p>
          <a:p>
            <a:r>
              <a:rPr sz="1800">
                <a:solidFill>
                  <a:srgbClr val="282828"/>
                </a:solidFill>
              </a:rPr>
              <a:t>Always supervise the child in the playground</a:t>
            </a:r>
          </a:p>
          <a:p>
            <a:r>
              <a:rPr sz="1800">
                <a:solidFill>
                  <a:srgbClr val="282828"/>
                </a:solidFill>
              </a:rPr>
              <a:t>Check the playing equipment to be sure it is sturdy. Also be sure that there are no splinters or exposed nails and that there is no rusted metal.</a:t>
            </a:r>
          </a:p>
          <a:p>
            <a:r>
              <a:rPr sz="1800">
                <a:solidFill>
                  <a:srgbClr val="282828"/>
                </a:solidFill>
              </a:rPr>
              <a:t>Dress the child in clothing without any loose strings or straps. They may get caught and cause strangling</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Do not allow the child stand or kneel on the swings or slide.</a:t>
            </a:r>
          </a:p>
          <a:p>
            <a:r>
              <a:rPr sz="1800">
                <a:solidFill>
                  <a:srgbClr val="282828"/>
                </a:solidFill>
              </a:rPr>
              <a:t>2. Immunization services</a:t>
            </a:r>
          </a:p>
          <a:p>
            <a:r>
              <a:rPr sz="1800">
                <a:solidFill>
                  <a:srgbClr val="282828"/>
                </a:solidFill>
              </a:rPr>
              <a:t>Administering vaccines.</a:t>
            </a:r>
          </a:p>
          <a:p>
            <a:r>
              <a:rPr sz="1800">
                <a:solidFill>
                  <a:srgbClr val="282828"/>
                </a:solidFill>
              </a:rPr>
              <a:t>3. Growth monitoring</a:t>
            </a:r>
          </a:p>
          <a:p>
            <a:r>
              <a:rPr sz="1800">
                <a:solidFill>
                  <a:srgbClr val="282828"/>
                </a:solidFill>
              </a:rPr>
              <a:t>Measuring weight and height.</a:t>
            </a:r>
          </a:p>
          <a:p>
            <a:r>
              <a:rPr sz="1800">
                <a:solidFill>
                  <a:srgbClr val="282828"/>
                </a:solidFill>
              </a:rPr>
              <a:t>4. Early identification of health problems</a:t>
            </a:r>
          </a:p>
          <a:p>
            <a:r>
              <a:rPr sz="1800">
                <a:solidFill>
                  <a:srgbClr val="282828"/>
                </a:solidFill>
              </a:rPr>
              <a:t>Detecting illness early.</a:t>
            </a:r>
          </a:p>
          <a:p>
            <a:r>
              <a:rPr sz="1800">
                <a:solidFill>
                  <a:srgbClr val="282828"/>
                </a:solidFill>
              </a:rPr>
              <a:t>5. Community health promotion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IMMUNIZATION</a:t>
            </a:r>
          </a:p>
        </p:txBody>
      </p:sp>
      <p:sp>
        <p:nvSpPr>
          <p:cNvPr id="3" name="Content Placeholder 2"/>
          <p:cNvSpPr>
            <a:spLocks noGrp="1"/>
          </p:cNvSpPr>
          <p:nvPr>
            <p:ph idx="1"/>
          </p:nvPr>
        </p:nvSpPr>
        <p:spPr/>
        <p:txBody>
          <a:bodyPr/>
          <a:lstStyle/>
          <a:p>
            <a:r>
              <a:rPr sz="1800">
                <a:solidFill>
                  <a:srgbClr val="282828"/>
                </a:solidFill>
              </a:rPr>
              <a:t>Organizing awareness programs.</a:t>
            </a:r>
          </a:p>
          <a:p>
            <a:r>
              <a:rPr sz="1800">
                <a:solidFill>
                  <a:srgbClr val="282828"/>
                </a:solidFill>
              </a:rPr>
              <a:t>Importance of Preventive Pediatrics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pediatrics is important because it:</a:t>
            </a:r>
          </a:p>
        </p:txBody>
      </p:sp>
      <p:sp>
        <p:nvSpPr>
          <p:cNvPr id="3" name="Content Placeholder 2"/>
          <p:cNvSpPr>
            <a:spLocks noGrp="1"/>
          </p:cNvSpPr>
          <p:nvPr>
            <p:ph idx="1"/>
          </p:nvPr>
        </p:nvSpPr>
        <p:spPr/>
        <p:txBody>
          <a:bodyPr/>
          <a:lstStyle/>
          <a:p>
            <a:r>
              <a:rPr sz="1800">
                <a:solidFill>
                  <a:srgbClr val="282828"/>
                </a:solidFill>
              </a:rPr>
              <a:t>Reduces child mortality</a:t>
            </a:r>
          </a:p>
          <a:p>
            <a:r>
              <a:rPr sz="1800">
                <a:solidFill>
                  <a:srgbClr val="282828"/>
                </a:solidFill>
              </a:rPr>
              <a:t>Prevents many diseases</a:t>
            </a:r>
          </a:p>
          <a:p>
            <a:r>
              <a:rPr sz="1800">
                <a:solidFill>
                  <a:srgbClr val="282828"/>
                </a:solidFill>
              </a:rPr>
              <a:t>Promotes healthy growth</a:t>
            </a:r>
          </a:p>
          <a:p>
            <a:r>
              <a:rPr sz="1800">
                <a:solidFill>
                  <a:srgbClr val="282828"/>
                </a:solidFill>
              </a:rPr>
              <a:t>Improves quality of life</a:t>
            </a:r>
          </a:p>
          <a:p>
            <a:r>
              <a:rPr sz="1800">
                <a:solidFill>
                  <a:srgbClr val="282828"/>
                </a:solidFill>
              </a:rPr>
              <a:t>Reduces healthcare costs</a:t>
            </a:r>
          </a:p>
          <a:p>
            <a:r>
              <a:rPr sz="1800">
                <a:solidFill>
                  <a:srgbClr val="282828"/>
                </a:solidFill>
              </a:rPr>
              <a:t>Nurse’s Responsibility in Preventive Pediatrics</a:t>
            </a:r>
          </a:p>
          <a:p>
            <a:r>
              <a:rPr sz="1800">
                <a:solidFill>
                  <a:srgbClr val="282828"/>
                </a:solidFill>
              </a:rPr>
              <a:t>Conducting antenatal care during pregnancy.</a:t>
            </a:r>
          </a:p>
          <a:p>
            <a:r>
              <a:rPr sz="1800">
                <a:solidFill>
                  <a:srgbClr val="282828"/>
                </a:solidFill>
              </a:rPr>
              <a:t>Promoting exclusive breastfeeding among mothers.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Preventive pediatrics is important because it:</a:t>
            </a:r>
          </a:p>
        </p:txBody>
      </p:sp>
      <p:sp>
        <p:nvSpPr>
          <p:cNvPr id="3" name="Content Placeholder 2"/>
          <p:cNvSpPr>
            <a:spLocks noGrp="1"/>
          </p:cNvSpPr>
          <p:nvPr>
            <p:ph idx="1"/>
          </p:nvPr>
        </p:nvSpPr>
        <p:spPr/>
        <p:txBody>
          <a:bodyPr/>
          <a:lstStyle/>
          <a:p>
            <a:r>
              <a:rPr sz="1800">
                <a:solidFill>
                  <a:srgbClr val="282828"/>
                </a:solidFill>
              </a:rPr>
              <a:t>Administering immunization as per schedule.</a:t>
            </a:r>
          </a:p>
          <a:p>
            <a:r>
              <a:rPr sz="1800">
                <a:solidFill>
                  <a:srgbClr val="282828"/>
                </a:solidFill>
              </a:rPr>
              <a:t>Conducting nutrition education and nutritional status assessment.</a:t>
            </a:r>
          </a:p>
          <a:p>
            <a:r>
              <a:rPr sz="1800">
                <a:solidFill>
                  <a:srgbClr val="282828"/>
                </a:solidFill>
              </a:rPr>
              <a:t>Health supervision at regular interval.</a:t>
            </a:r>
          </a:p>
          <a:p>
            <a:r>
              <a:rPr sz="1800">
                <a:solidFill>
                  <a:srgbClr val="282828"/>
                </a:solidFill>
              </a:rPr>
              <a:t>Health education on personal, environmental hygiene, sanitation, safe water intake, communicable disease prevention and family planning methods.</a:t>
            </a:r>
          </a:p>
          <a:p>
            <a:r>
              <a:rPr sz="1800">
                <a:solidFill>
                  <a:srgbClr val="282828"/>
                </a:solidFill>
              </a:rPr>
              <a:t>Participating in various national programs.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UNDER-FIVE CLINICS</a:t>
            </a:r>
          </a:p>
        </p:txBody>
      </p:sp>
      <p:sp>
        <p:nvSpPr>
          <p:cNvPr id="3" name="Content Placeholder 2"/>
          <p:cNvSpPr>
            <a:spLocks noGrp="1"/>
          </p:cNvSpPr>
          <p:nvPr>
            <p:ph idx="1"/>
          </p:nvPr>
        </p:nvSpPr>
        <p:spPr/>
        <p:txBody>
          <a:bodyPr/>
          <a:lstStyle/>
          <a:p>
            <a:r>
              <a:rPr sz="1800">
                <a:solidFill>
                  <a:srgbClr val="282828"/>
                </a:solidFill>
              </a:rPr>
              <a:t>The children under 5 years of age constitute about 15% of the total population. They suffer high rates of mortality and morbidity. The effects of malnutrition and other diseases at this age may have a role in later life. The majority of the deaths are preventable through available interventions.</a:t>
            </a:r>
          </a:p>
          <a:p>
            <a:r>
              <a:rPr sz="1800">
                <a:solidFill>
                  <a:srgbClr val="282828"/>
                </a:solidFill>
              </a:rPr>
              <a:t>Under-five clinic is a center, where preventive, promotive, curative, referral and educational services are provided in a packaged manner to under five children under one roof. The services provided in this clinic are not only economical but also is available to larger proportion of children population in the community.</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OBJECTIVE</a:t>
            </a:r>
          </a:p>
        </p:txBody>
      </p:sp>
      <p:sp>
        <p:nvSpPr>
          <p:cNvPr id="3" name="Content Placeholder 2"/>
          <p:cNvSpPr>
            <a:spLocks noGrp="1"/>
          </p:cNvSpPr>
          <p:nvPr>
            <p:ph idx="1"/>
          </p:nvPr>
        </p:nvSpPr>
        <p:spPr/>
        <p:txBody>
          <a:bodyPr/>
          <a:lstStyle/>
          <a:p>
            <a:r>
              <a:rPr sz="1800">
                <a:solidFill>
                  <a:srgbClr val="282828"/>
                </a:solidFill>
              </a:rPr>
              <a:t>The prevention of malnutrition, pertussis, tuberculosis, poliomyelitis, diphtheria, tetanus and measles.</a:t>
            </a:r>
          </a:p>
          <a:p>
            <a:r>
              <a:rPr sz="1800">
                <a:solidFill>
                  <a:srgbClr val="282828"/>
                </a:solidFill>
              </a:rPr>
              <a:t>The supervision of the health of all children upon the age of five.</a:t>
            </a:r>
          </a:p>
          <a:p>
            <a:r>
              <a:rPr sz="1800">
                <a:solidFill>
                  <a:srgbClr val="282828"/>
                </a:solidFill>
              </a:rPr>
              <a:t>The education of parents to promote health and family planning.</a:t>
            </a:r>
          </a:p>
          <a:p>
            <a:r>
              <a:rPr sz="1800">
                <a:solidFill>
                  <a:srgbClr val="282828"/>
                </a:solidFill>
              </a:rPr>
              <a:t>The provision of simple treatment for diarrhea, with or without dehydration, pneumonia, skin conditions and other common disorders.</a:t>
            </a:r>
          </a:p>
          <a:p>
            <a:r>
              <a:rPr sz="1800">
                <a:solidFill>
                  <a:srgbClr val="282828"/>
                </a:solidFill>
              </a:rPr>
              <a:t>To provide family planning</a:t>
            </a:r>
          </a:p>
          <a:p>
            <a:r>
              <a:rPr sz="1800">
                <a:solidFill>
                  <a:srgbClr val="282828"/>
                </a:solidFill>
              </a:rPr>
              <a:t>Functions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Diagnosis and treatment of:</a:t>
            </a:r>
          </a:p>
        </p:txBody>
      </p:sp>
      <p:sp>
        <p:nvSpPr>
          <p:cNvPr id="3" name="Content Placeholder 2"/>
          <p:cNvSpPr>
            <a:spLocks noGrp="1"/>
          </p:cNvSpPr>
          <p:nvPr>
            <p:ph idx="1"/>
          </p:nvPr>
        </p:nvSpPr>
        <p:spPr/>
        <p:txBody>
          <a:bodyPr/>
          <a:lstStyle/>
          <a:p>
            <a:r>
              <a:rPr sz="1800">
                <a:solidFill>
                  <a:srgbClr val="282828"/>
                </a:solidFill>
              </a:rPr>
              <a:t>Acute illness, like diarrhea, oral rehydration therapy.</a:t>
            </a:r>
          </a:p>
          <a:p>
            <a:r>
              <a:rPr sz="1800">
                <a:solidFill>
                  <a:srgbClr val="282828"/>
                </a:solidFill>
              </a:rPr>
              <a:t>Chronic illness, like physical, mental, congenital or acquired problems.</a:t>
            </a:r>
          </a:p>
          <a:p>
            <a:r>
              <a:rPr sz="1800">
                <a:solidFill>
                  <a:srgbClr val="282828"/>
                </a:solidFill>
              </a:rPr>
              <a:t>Disorders of growth and development.</a:t>
            </a:r>
          </a:p>
          <a:p>
            <a:r>
              <a:rPr sz="1800">
                <a:solidFill>
                  <a:srgbClr val="282828"/>
                </a:solidFill>
              </a:rPr>
              <a:t>X-ray and laboratory services.</a:t>
            </a:r>
          </a:p>
          <a:p>
            <a:r>
              <a:rPr sz="1800">
                <a:solidFill>
                  <a:srgbClr val="282828"/>
                </a:solidFill>
              </a:rPr>
              <a:t>Referral services.</a:t>
            </a:r>
          </a:p>
          <a:p>
            <a:r>
              <a:rPr sz="1800">
                <a:solidFill>
                  <a:srgbClr val="282828"/>
                </a:solidFill>
              </a:rPr>
              <a:t>Growth monitoring: This is one of the most important functions of the clinic. The child is weighed periodically- every month during the first year, after every 2 months from 1-3 years of age and after every 3 months in 4th and 5th years. Besides weighing, measuring height, mid- arm circumference is also carried out depending upon the availability of trained manpower and equipment. The growth is plotted on the growth chart known as road to health card and any faltering in the growth is identified and suitable action is initiated. The milestones are also recorded and any delay in achieving milestone is evaluated.</a:t>
            </a:r>
          </a:p>
          <a:p>
            <a:r>
              <a:rPr sz="1800">
                <a:solidFill>
                  <a:srgbClr val="282828"/>
                </a:solidFill>
              </a:rPr>
              <a:t>Preventive care: This involves Immunization services during the 1st five years of life.</a:t>
            </a:r>
          </a:p>
          <a:p>
            <a:r>
              <a:rPr sz="1800">
                <a:solidFill>
                  <a:srgbClr val="282828"/>
                </a:solidFill>
              </a:rPr>
              <a:t>Vitamin A supplementation and administration of iron</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Diagnosis and treatment of:</a:t>
            </a:r>
          </a:p>
        </p:txBody>
      </p:sp>
      <p:sp>
        <p:nvSpPr>
          <p:cNvPr id="3" name="Content Placeholder 2"/>
          <p:cNvSpPr>
            <a:spLocks noGrp="1"/>
          </p:cNvSpPr>
          <p:nvPr>
            <p:ph idx="1"/>
          </p:nvPr>
        </p:nvSpPr>
        <p:spPr/>
        <p:txBody>
          <a:bodyPr/>
          <a:lstStyle/>
          <a:p>
            <a:r>
              <a:rPr sz="1800">
                <a:solidFill>
                  <a:srgbClr val="282828"/>
                </a:solidFill>
              </a:rPr>
              <a:t>supplementation.</a:t>
            </a:r>
          </a:p>
          <a:p>
            <a:r>
              <a:rPr sz="1800">
                <a:solidFill>
                  <a:srgbClr val="282828"/>
                </a:solidFill>
              </a:rPr>
              <a:t>Anthelminthic treatment to prevent anemia.</a:t>
            </a:r>
          </a:p>
          <a:p>
            <a:r>
              <a:rPr sz="1800">
                <a:solidFill>
                  <a:srgbClr val="282828"/>
                </a:solidFill>
              </a:rPr>
              <a:t>Regular health check-up.</a:t>
            </a:r>
          </a:p>
          <a:p>
            <a:r>
              <a:rPr sz="1800">
                <a:solidFill>
                  <a:srgbClr val="282828"/>
                </a:solidFill>
              </a:rPr>
              <a:t>ORS supply during diarrhea to prevent dehydration.</a:t>
            </a:r>
          </a:p>
          <a:p>
            <a:r>
              <a:rPr sz="1800">
                <a:solidFill>
                  <a:srgbClr val="282828"/>
                </a:solidFill>
              </a:rPr>
              <a:t>Family planning: Family planning is core concept to any program related to women and children. The mothers are more receptive to family planning during early puerperium and lactation. Mother is counseled on the various options available, their merits and demerits so that she can make a choice.</a:t>
            </a:r>
          </a:p>
          <a:p>
            <a:r>
              <a:rPr sz="1800">
                <a:solidFill>
                  <a:srgbClr val="282828"/>
                </a:solidFill>
              </a:rPr>
              <a:t>Health education: The mother should be educated on issues of child care, breastfeeding, nutrition, growth monitoring, immunization and hygiene of safe water and food preparation.</a:t>
            </a:r>
          </a:p>
          <a:p>
            <a:r>
              <a:rPr sz="1800">
                <a:solidFill>
                  <a:srgbClr val="282828"/>
                </a:solidFill>
              </a:rPr>
              <a:t>Thus, Under Five Clinics reach remote areas and provide comprehensive care to the most vulnerable population of our society with a cost-effective extensive approach. Under five clinics are now integral part of reproductive and child health program.</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ROLE OF A NURSE IN UNDER FIVE’S CLINIC</a:t>
            </a:r>
          </a:p>
        </p:txBody>
      </p:sp>
      <p:sp>
        <p:nvSpPr>
          <p:cNvPr id="3" name="Content Placeholder 2"/>
          <p:cNvSpPr>
            <a:spLocks noGrp="1"/>
          </p:cNvSpPr>
          <p:nvPr>
            <p:ph idx="1"/>
          </p:nvPr>
        </p:nvSpPr>
        <p:spPr/>
        <p:txBody>
          <a:bodyPr/>
          <a:lstStyle/>
          <a:p>
            <a:r>
              <a:rPr sz="1800">
                <a:solidFill>
                  <a:srgbClr val="282828"/>
                </a:solidFill>
              </a:rPr>
              <a:t>selection of place and days of clinic.</a:t>
            </a:r>
          </a:p>
          <a:p>
            <a:r>
              <a:rPr sz="1800">
                <a:solidFill>
                  <a:srgbClr val="282828"/>
                </a:solidFill>
              </a:rPr>
              <a:t>arranging equipment.</a:t>
            </a:r>
          </a:p>
          <a:p>
            <a:r>
              <a:rPr sz="1800">
                <a:solidFill>
                  <a:srgbClr val="282828"/>
                </a:solidFill>
              </a:rPr>
              <a:t>arranging the entertainment facilities.</a:t>
            </a:r>
          </a:p>
          <a:p>
            <a:r>
              <a:rPr sz="1800">
                <a:solidFill>
                  <a:srgbClr val="282828"/>
                </a:solidFill>
              </a:rPr>
              <a:t>providing immunization services.</a:t>
            </a:r>
          </a:p>
          <a:p>
            <a:r>
              <a:rPr sz="1800">
                <a:solidFill>
                  <a:srgbClr val="282828"/>
                </a:solidFill>
              </a:rPr>
              <a:t>giving warm welcome to mother and children.</a:t>
            </a:r>
          </a:p>
          <a:p>
            <a:r>
              <a:rPr sz="1800">
                <a:solidFill>
                  <a:srgbClr val="282828"/>
                </a:solidFill>
              </a:rPr>
              <a:t>maintaining growth chart, immunization card.</a:t>
            </a:r>
          </a:p>
          <a:p>
            <a:r>
              <a:rPr sz="1800">
                <a:solidFill>
                  <a:srgbClr val="282828"/>
                </a:solidFill>
              </a:rPr>
              <a:t>recording general examination, nutritional level and weight of the child.</a:t>
            </a:r>
          </a:p>
          <a:p>
            <a:r>
              <a:rPr sz="1800">
                <a:solidFill>
                  <a:srgbClr val="282828"/>
                </a:solidFill>
              </a:rPr>
              <a:t>assessing growth and development of the child. carry out physical examination.</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ROLE OF A NURSE IN UNDER FIVE’S CLINIC</a:t>
            </a:r>
          </a:p>
        </p:txBody>
      </p:sp>
      <p:sp>
        <p:nvSpPr>
          <p:cNvPr id="3" name="Content Placeholder 2"/>
          <p:cNvSpPr>
            <a:spLocks noGrp="1"/>
          </p:cNvSpPr>
          <p:nvPr>
            <p:ph idx="1"/>
          </p:nvPr>
        </p:nvSpPr>
        <p:spPr/>
        <p:txBody>
          <a:bodyPr/>
          <a:lstStyle/>
          <a:p>
            <a:r>
              <a:rPr sz="1800">
                <a:solidFill>
                  <a:srgbClr val="282828"/>
                </a:solidFill>
              </a:rPr>
              <a:t>prevention and treatment of general diseases and injuries and referring the critical patients.</a:t>
            </a:r>
          </a:p>
          <a:p>
            <a:r>
              <a:rPr sz="1800">
                <a:solidFill>
                  <a:srgbClr val="282828"/>
                </a:solidFill>
              </a:rPr>
              <a:t>providing health education to mothers.</a:t>
            </a:r>
          </a:p>
          <a:p>
            <a:r>
              <a:rPr sz="1800">
                <a:solidFill>
                  <a:srgbClr val="282828"/>
                </a:solidFill>
              </a:rPr>
              <a:t>assessing growth and development of the child.</a:t>
            </a:r>
          </a:p>
          <a:p>
            <a:r>
              <a:rPr sz="1800">
                <a:solidFill>
                  <a:srgbClr val="282828"/>
                </a:solidFill>
              </a:rPr>
              <a:t>carry out physical examination.</a:t>
            </a:r>
          </a:p>
          <a:p>
            <a:r>
              <a:rPr sz="1800">
                <a:solidFill>
                  <a:srgbClr val="282828"/>
                </a:solidFill>
              </a:rPr>
              <a:t>prevention and treatment of general diseases and injuries and referring the critical patients.</a:t>
            </a:r>
          </a:p>
          <a:p>
            <a:r>
              <a:rPr sz="1800">
                <a:solidFill>
                  <a:srgbClr val="282828"/>
                </a:solidFill>
              </a:rPr>
              <a:t>providing health education to mothers.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WELL-BABY CLINIC</a:t>
            </a:r>
          </a:p>
        </p:txBody>
      </p:sp>
      <p:sp>
        <p:nvSpPr>
          <p:cNvPr id="3" name="Content Placeholder 2"/>
          <p:cNvSpPr>
            <a:spLocks noGrp="1"/>
          </p:cNvSpPr>
          <p:nvPr>
            <p:ph idx="1"/>
          </p:nvPr>
        </p:nvSpPr>
        <p:spPr/>
        <p:txBody>
          <a:bodyPr/>
          <a:lstStyle/>
          <a:p>
            <a:r>
              <a:rPr sz="1800">
                <a:solidFill>
                  <a:srgbClr val="282828"/>
                </a:solidFill>
              </a:rPr>
              <a:t>Well-baby clinics or well-child clinics are the centers which deal with the total well-being of children and family. The Well- baby clinic provides diagnostic and preventive services to infants even after receiving all the compulsory immunizations. They are checked during all growth and developmental stages thus focusing on their total well-being.</a:t>
            </a:r>
          </a:p>
          <a:p>
            <a:r>
              <a:rPr sz="1800">
                <a:solidFill>
                  <a:srgbClr val="282828"/>
                </a:solidFill>
              </a:rPr>
              <a:t>Functions of Well-Baby Clinic</a:t>
            </a:r>
          </a:p>
          <a:p>
            <a:r>
              <a:rPr sz="1800">
                <a:solidFill>
                  <a:srgbClr val="282828"/>
                </a:solidFill>
              </a:rPr>
              <a:t>Primary immunizations for childhood diseases such as diphtheria, pertussis, tetanus, polio, Hemophilus influenza type B, hepatitis B, measles, mumps, rubella and varicella.</a:t>
            </a:r>
          </a:p>
          <a:p>
            <a:r>
              <a:rPr sz="1800">
                <a:solidFill>
                  <a:srgbClr val="282828"/>
                </a:solidFill>
              </a:rPr>
              <a:t>Tracking immunization rates in the community and notifying families when shots are due.</a:t>
            </a:r>
          </a:p>
          <a:p>
            <a:r>
              <a:rPr sz="1800">
                <a:solidFill>
                  <a:srgbClr val="282828"/>
                </a:solidFill>
              </a:rPr>
              <a:t>Growth assessments: Length, weight and hea circumference measurements should be taken with ad visit. These measurements are plotted on growth charts and are compared to detect developmental delay.</a:t>
            </a:r>
          </a:p>
          <a:p>
            <a:r>
              <a:rPr sz="1800">
                <a:solidFill>
                  <a:srgbClr val="282828"/>
                </a:solidFill>
              </a:rPr>
              <a:t>Assessments of the baby's reflexes and neurologic developments.</a:t>
            </a:r>
          </a:p>
          <a:p>
            <a:r>
              <a:rPr sz="1800">
                <a:solidFill>
                  <a:srgbClr val="282828"/>
                </a:solidFill>
              </a:rPr>
              <a:t>Systemic examinations to detect any childhood diseases from earlier stages.</a:t>
            </a:r>
          </a:p>
          <a:p>
            <a:r>
              <a:rPr sz="1800">
                <a:solidFill>
                  <a:srgbClr val="282828"/>
                </a:solidFill>
              </a:rPr>
              <a:t>Screening eyes for vision abnormalities and muscle imbalance, the ears for infection, the heart for murmun and the hips for developmental dysplasia.</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WELL-BABY CLINIC</a:t>
            </a:r>
          </a:p>
        </p:txBody>
      </p:sp>
      <p:sp>
        <p:nvSpPr>
          <p:cNvPr id="3" name="Content Placeholder 2"/>
          <p:cNvSpPr>
            <a:spLocks noGrp="1"/>
          </p:cNvSpPr>
          <p:nvPr>
            <p:ph idx="1"/>
          </p:nvPr>
        </p:nvSpPr>
        <p:spPr/>
        <p:txBody>
          <a:bodyPr/>
          <a:lstStyle/>
          <a:p>
            <a:r>
              <a:rPr sz="1800">
                <a:solidFill>
                  <a:srgbClr val="282828"/>
                </a:solidFill>
              </a:rPr>
              <a:t>Testing for anemia and lead poisoning.</a:t>
            </a:r>
          </a:p>
          <a:p>
            <a:r>
              <a:rPr sz="1800">
                <a:solidFill>
                  <a:srgbClr val="282828"/>
                </a:solidFill>
              </a:rPr>
              <a:t>Family education, especially on breastfeeding and good nutrition.</a:t>
            </a:r>
          </a:p>
          <a:p>
            <a:r>
              <a:rPr sz="1800">
                <a:solidFill>
                  <a:srgbClr val="282828"/>
                </a:solidFill>
              </a:rPr>
              <a:t>Infants are initially assessed at two weeks of age. Subsequent visits are at 2, 4, 6, 9, and 12 months. Toddlers and preschoolers are seen at 15 months, 18 months, and then yearly at 2,3,4 5, and 6 years. School-age children are routinely evaluated every one to two years for school and camp. Teenagers are screened for sports participation and work permits. They are also counseled on age-appropriate issues such as drug and alcohol abuse, prevention of sexually transmitted diseases and the hazards of smoking.</a:t>
            </a:r>
          </a:p>
          <a:p>
            <a:r>
              <a:rPr sz="1800">
                <a:solidFill>
                  <a:srgbClr val="282828"/>
                </a:solidFill>
              </a:rPr>
              <a:t>The staff of well-baby clinics provides referrals to other agencies that educate families on parenting skills and financial counseling. Referrals to other health-coverage programs are also often done. Most importantly, the staff provides parenting guidance for those with no support system in an effort to help</a:t>
            </a:r>
          </a:p>
          <a:p>
            <a:r>
              <a:rPr sz="1800">
                <a:solidFill>
                  <a:srgbClr val="282828"/>
                </a:solidFill>
              </a:rPr>
              <a:t>reduce child abuse and neglect.prevention and early detection of childhood abnormalities .</a:t>
            </a:r>
          </a:p>
          <a:p>
            <a:r>
              <a:rPr sz="1800">
                <a:solidFill>
                  <a:srgbClr val="282828"/>
                </a:solidFill>
              </a:rPr>
              <a:t>New update regarding under five cilinc</a:t>
            </a:r>
          </a:p>
          <a:p>
            <a:r>
              <a:rPr sz="1800">
                <a:solidFill>
                  <a:srgbClr val="282828"/>
                </a:solidFill>
              </a:rPr>
              <a:t>Early screening and developmal survillence</a:t>
            </a:r>
          </a:p>
          <a:p>
            <a:r>
              <a:rPr sz="1800">
                <a:solidFill>
                  <a:srgbClr val="282828"/>
                </a:solidFill>
              </a:rPr>
              <a:t>Fixed Screening Schedule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WELL-BABY CLINIC</a:t>
            </a:r>
          </a:p>
        </p:txBody>
      </p:sp>
      <p:sp>
        <p:nvSpPr>
          <p:cNvPr id="3" name="Content Placeholder 2"/>
          <p:cNvSpPr>
            <a:spLocks noGrp="1"/>
          </p:cNvSpPr>
          <p:nvPr>
            <p:ph idx="1"/>
          </p:nvPr>
        </p:nvSpPr>
        <p:spPr/>
        <p:txBody>
          <a:bodyPr/>
          <a:lstStyle/>
          <a:p>
            <a:r>
              <a:rPr sz="1800">
                <a:solidFill>
                  <a:srgbClr val="282828"/>
                </a:solidFill>
              </a:rPr>
              <a:t>Earlier: screening was irregular</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Developmental screening must be done at specific ages:</a:t>
            </a:r>
          </a:p>
        </p:txBody>
      </p:sp>
      <p:sp>
        <p:nvSpPr>
          <p:cNvPr id="3" name="Content Placeholder 2"/>
          <p:cNvSpPr>
            <a:spLocks noGrp="1"/>
          </p:cNvSpPr>
          <p:nvPr>
            <p:ph idx="1"/>
          </p:nvPr>
        </p:nvSpPr>
        <p:spPr/>
        <p:txBody>
          <a:bodyPr/>
          <a:lstStyle/>
          <a:p>
            <a:r>
              <a:rPr sz="1800">
                <a:solidFill>
                  <a:srgbClr val="282828"/>
                </a:solidFill>
              </a:rPr>
              <a:t>9 months</a:t>
            </a:r>
          </a:p>
          <a:p>
            <a:r>
              <a:rPr sz="1800">
                <a:solidFill>
                  <a:srgbClr val="282828"/>
                </a:solidFill>
              </a:rPr>
              <a:t>18 months</a:t>
            </a:r>
          </a:p>
          <a:p>
            <a:r>
              <a:rPr sz="1800">
                <a:solidFill>
                  <a:srgbClr val="282828"/>
                </a:solidFill>
              </a:rPr>
              <a:t>30 months</a:t>
            </a:r>
          </a:p>
          <a:p>
            <a:r>
              <a:rPr sz="1800">
                <a:solidFill>
                  <a:srgbClr val="282828"/>
                </a:solidFill>
              </a:rPr>
              <a:t>✔ This is a major update → screening is now mandatory &amp; scheduled, not optional</a:t>
            </a:r>
          </a:p>
          <a:p>
            <a:r>
              <a:rPr sz="1800">
                <a:solidFill>
                  <a:srgbClr val="282828"/>
                </a:solidFill>
              </a:rPr>
              <a:t>2. Universal Autism Screening</a:t>
            </a:r>
          </a:p>
          <a:p>
            <a:r>
              <a:rPr sz="1800">
                <a:solidFill>
                  <a:srgbClr val="282828"/>
                </a:solidFill>
              </a:rPr>
              <a:t>According  to American association of pediatric</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All children should be screened for autism at:</a:t>
            </a:r>
          </a:p>
        </p:txBody>
      </p:sp>
      <p:sp>
        <p:nvSpPr>
          <p:cNvPr id="3" name="Content Placeholder 2"/>
          <p:cNvSpPr>
            <a:spLocks noGrp="1"/>
          </p:cNvSpPr>
          <p:nvPr>
            <p:ph idx="1"/>
          </p:nvPr>
        </p:nvSpPr>
        <p:spPr/>
        <p:txBody>
          <a:bodyPr/>
          <a:lstStyle/>
          <a:p>
            <a:r>
              <a:rPr sz="1800">
                <a:solidFill>
                  <a:srgbClr val="282828"/>
                </a:solidFill>
              </a:rPr>
              <a:t>18 months</a:t>
            </a:r>
          </a:p>
          <a:p>
            <a:r>
              <a:rPr sz="1800">
                <a:solidFill>
                  <a:srgbClr val="282828"/>
                </a:solidFill>
              </a:rPr>
              <a:t>24 months</a:t>
            </a:r>
          </a:p>
          <a:p>
            <a:r>
              <a:rPr sz="1800">
                <a:solidFill>
                  <a:srgbClr val="282828"/>
                </a:solidFill>
              </a:rPr>
              <a:t>✔ Earlier: only high-risk children</a:t>
            </a:r>
          </a:p>
          <a:p>
            <a:r>
              <a:rPr sz="1800">
                <a:solidFill>
                  <a:srgbClr val="282828"/>
                </a:solidFill>
              </a:rPr>
              <a:t>✔ Now: ALL children (universal screening)</a:t>
            </a:r>
          </a:p>
          <a:p>
            <a:r>
              <a:rPr sz="1800">
                <a:solidFill>
                  <a:srgbClr val="282828"/>
                </a:solidFill>
              </a:rPr>
              <a:t>3. Use of Standardized Tools (New Practice)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Latest update:</a:t>
            </a:r>
          </a:p>
        </p:txBody>
      </p:sp>
      <p:sp>
        <p:nvSpPr>
          <p:cNvPr id="3" name="Content Placeholder 2"/>
          <p:cNvSpPr>
            <a:spLocks noGrp="1"/>
          </p:cNvSpPr>
          <p:nvPr>
            <p:ph idx="1"/>
          </p:nvPr>
        </p:nvSpPr>
        <p:spPr/>
        <p:txBody>
          <a:bodyPr/>
          <a:lstStyle/>
          <a:p>
            <a:r>
              <a:rPr sz="1800">
                <a:solidFill>
                  <a:srgbClr val="282828"/>
                </a:solidFill>
              </a:rPr>
              <a:t>Screening must use validated tools (not just observation)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ASQ (Ages &amp; Stages Questionnaire)</a:t>
            </a:r>
          </a:p>
          <a:p>
            <a:r>
              <a:rPr sz="1800">
                <a:solidFill>
                  <a:srgbClr val="282828"/>
                </a:solidFill>
              </a:rPr>
              <a:t>M-CHAT (Autism screening)</a:t>
            </a:r>
          </a:p>
          <a:p>
            <a:r>
              <a:rPr sz="1800">
                <a:solidFill>
                  <a:srgbClr val="282828"/>
                </a:solidFill>
              </a:rPr>
              <a:t>Areas Assessed (5 Domains)</a:t>
            </a:r>
          </a:p>
          <a:p>
            <a:r>
              <a:rPr sz="1800">
                <a:solidFill>
                  <a:srgbClr val="282828"/>
                </a:solidFill>
              </a:rPr>
              <a:t>Communication → speech, understanding</a:t>
            </a:r>
          </a:p>
          <a:p>
            <a:r>
              <a:rPr sz="1800">
                <a:solidFill>
                  <a:srgbClr val="282828"/>
                </a:solidFill>
              </a:rPr>
              <a:t>Gross motor → sitting, walking</a:t>
            </a:r>
          </a:p>
          <a:p>
            <a:r>
              <a:rPr sz="1800">
                <a:solidFill>
                  <a:srgbClr val="282828"/>
                </a:solidFill>
              </a:rPr>
              <a:t>Fine motor → holding objects, drawing</a:t>
            </a:r>
          </a:p>
          <a:p>
            <a:r>
              <a:rPr sz="1800">
                <a:solidFill>
                  <a:srgbClr val="282828"/>
                </a:solidFill>
              </a:rPr>
              <a:t>Problem solving → thinking, learning</a:t>
            </a:r>
          </a:p>
          <a:p>
            <a:r>
              <a:rPr sz="1800">
                <a:solidFill>
                  <a:srgbClr val="282828"/>
                </a:solidFill>
              </a:rPr>
              <a:t>Personal-social → interaction, behavior</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Areas of assessment at each visit</a:t>
            </a:r>
          </a:p>
          <a:p>
            <a:r>
              <a:rPr sz="1800">
                <a:solidFill>
                  <a:srgbClr val="282828"/>
                </a:solidFill>
              </a:rPr>
              <a:t>Nursing Theory Application</a:t>
            </a:r>
          </a:p>
          <a:p>
            <a:r>
              <a:rPr sz="1800">
                <a:solidFill>
                  <a:srgbClr val="282828"/>
                </a:solidFill>
              </a:rPr>
              <a:t>Betty Neuman Systems Model</a:t>
            </a:r>
          </a:p>
          <a:p>
            <a:r>
              <a:rPr sz="1800">
                <a:solidFill>
                  <a:srgbClr val="282828"/>
                </a:solidFill>
              </a:rPr>
              <a:t>Definition</a:t>
            </a:r>
          </a:p>
          <a:p>
            <a:r>
              <a:rPr sz="1800">
                <a:solidFill>
                  <a:srgbClr val="282828"/>
                </a:solidFill>
              </a:rPr>
              <a:t>The Neuman Systems Model views a person (child) as an open system that is constantly interacting with internal and external environmental stressors.</a:t>
            </a:r>
          </a:p>
          <a:p>
            <a:r>
              <a:rPr sz="1800">
                <a:solidFill>
                  <a:srgbClr val="282828"/>
                </a:solidFill>
              </a:rPr>
              <a:t>Core Concepts of Neuman Theory</a:t>
            </a:r>
          </a:p>
          <a:p>
            <a:r>
              <a:rPr sz="1800">
                <a:solidFill>
                  <a:srgbClr val="282828"/>
                </a:solidFill>
              </a:rPr>
              <a:t>1. Client System (Child)</a:t>
            </a:r>
          </a:p>
          <a:p>
            <a:r>
              <a:rPr sz="1800">
                <a:solidFill>
                  <a:srgbClr val="282828"/>
                </a:solidFill>
              </a:rPr>
              <a:t>The child is the central core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Examples:</a:t>
            </a:r>
          </a:p>
        </p:txBody>
      </p:sp>
      <p:sp>
        <p:nvSpPr>
          <p:cNvPr id="3" name="Content Placeholder 2"/>
          <p:cNvSpPr>
            <a:spLocks noGrp="1"/>
          </p:cNvSpPr>
          <p:nvPr>
            <p:ph idx="1"/>
          </p:nvPr>
        </p:nvSpPr>
        <p:spPr/>
        <p:txBody>
          <a:bodyPr/>
          <a:lstStyle/>
          <a:p>
            <a:r>
              <a:rPr sz="1800">
                <a:solidFill>
                  <a:srgbClr val="282828"/>
                </a:solidFill>
              </a:rPr>
              <a:t>Includes: Physical, Psychological, Sociocultural ,Developmental aspects</a:t>
            </a:r>
          </a:p>
          <a:p>
            <a:r>
              <a:rPr sz="1800">
                <a:solidFill>
                  <a:srgbClr val="282828"/>
                </a:solidFill>
              </a:rPr>
              <a:t>In pediatrics → child + family together considered</a:t>
            </a:r>
          </a:p>
          <a:p>
            <a:r>
              <a:rPr sz="1800">
                <a:solidFill>
                  <a:srgbClr val="282828"/>
                </a:solidFill>
              </a:rPr>
              <a:t>2.  Stressors</a:t>
            </a:r>
          </a:p>
          <a:p>
            <a:r>
              <a:rPr sz="1800">
                <a:solidFill>
                  <a:srgbClr val="282828"/>
                </a:solidFill>
              </a:rPr>
              <a:t>Anything that disturbs the child’s normal health.</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Types:</a:t>
            </a:r>
          </a:p>
        </p:txBody>
      </p:sp>
      <p:sp>
        <p:nvSpPr>
          <p:cNvPr id="3" name="Content Placeholder 2"/>
          <p:cNvSpPr>
            <a:spLocks noGrp="1"/>
          </p:cNvSpPr>
          <p:nvPr>
            <p:ph idx="1"/>
          </p:nvPr>
        </p:nvSpPr>
        <p:spPr/>
        <p:txBody>
          <a:bodyPr/>
          <a:lstStyle/>
          <a:p>
            <a:r>
              <a:rPr sz="1800">
                <a:solidFill>
                  <a:srgbClr val="282828"/>
                </a:solidFill>
              </a:rPr>
              <a:t>Intrapersonal → anxiety, illness</a:t>
            </a:r>
          </a:p>
          <a:p>
            <a:r>
              <a:rPr sz="1800">
                <a:solidFill>
                  <a:srgbClr val="282828"/>
                </a:solidFill>
              </a:rPr>
              <a:t>Interpersonal → family conflict, poor parenting</a:t>
            </a:r>
          </a:p>
          <a:p>
            <a:r>
              <a:rPr sz="1800">
                <a:solidFill>
                  <a:srgbClr val="282828"/>
                </a:solidFill>
              </a:rPr>
              <a:t>Extrapersonal → poverty, school stress</a:t>
            </a:r>
          </a:p>
          <a:p>
            <a:r>
              <a:rPr sz="1800">
                <a:solidFill>
                  <a:srgbClr val="282828"/>
                </a:solidFill>
              </a:rPr>
              <a:t>3.  Lines of Defense</a:t>
            </a:r>
          </a:p>
          <a:p>
            <a:r>
              <a:rPr sz="1800">
                <a:solidFill>
                  <a:srgbClr val="282828"/>
                </a:solidFill>
              </a:rPr>
              <a:t>Flexible Line of Defense</a:t>
            </a:r>
          </a:p>
          <a:p>
            <a:r>
              <a:rPr sz="1800">
                <a:solidFill>
                  <a:srgbClr val="282828"/>
                </a:solidFill>
              </a:rPr>
              <a:t>First protection barrier</a:t>
            </a:r>
          </a:p>
          <a:p>
            <a:r>
              <a:rPr sz="1800">
                <a:solidFill>
                  <a:srgbClr val="282828"/>
                </a:solidFill>
              </a:rPr>
              <a:t>Example: good nutrition, immunization</a:t>
            </a:r>
          </a:p>
          <a:p>
            <a:r>
              <a:rPr sz="1800">
                <a:solidFill>
                  <a:srgbClr val="282828"/>
                </a:solidFill>
              </a:rPr>
              <a:t>Normal Line of Defense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Types:</a:t>
            </a:r>
          </a:p>
        </p:txBody>
      </p:sp>
      <p:sp>
        <p:nvSpPr>
          <p:cNvPr id="3" name="Content Placeholder 2"/>
          <p:cNvSpPr>
            <a:spLocks noGrp="1"/>
          </p:cNvSpPr>
          <p:nvPr>
            <p:ph idx="1"/>
          </p:nvPr>
        </p:nvSpPr>
        <p:spPr>
          <a:xfrm>
            <a:off x="457200" y="1166018"/>
            <a:ext cx="8229600" cy="4525963"/>
          </a:xfrm>
        </p:spPr>
        <p:txBody>
          <a:bodyPr>
            <a:normAutofit fontScale="92500" lnSpcReduction="10000"/>
          </a:bodyPr>
          <a:lstStyle/>
          <a:p>
            <a:r>
              <a:rPr sz="1800" dirty="0">
                <a:solidFill>
                  <a:srgbClr val="282828"/>
                </a:solidFill>
              </a:rPr>
              <a:t>Child’s usual health status</a:t>
            </a:r>
          </a:p>
          <a:p>
            <a:r>
              <a:rPr sz="1800" dirty="0">
                <a:solidFill>
                  <a:srgbClr val="282828"/>
                </a:solidFill>
              </a:rPr>
              <a:t>Lines of Resistance</a:t>
            </a:r>
          </a:p>
          <a:p>
            <a:r>
              <a:rPr sz="1800" dirty="0">
                <a:solidFill>
                  <a:srgbClr val="282828"/>
                </a:solidFill>
              </a:rPr>
              <a:t>Internal mechanisms to fight stress (immune system)</a:t>
            </a:r>
          </a:p>
          <a:p>
            <a:r>
              <a:rPr sz="1800" dirty="0">
                <a:solidFill>
                  <a:srgbClr val="282828"/>
                </a:solidFill>
              </a:rPr>
              <a:t>4.  Stability and Wellness</a:t>
            </a:r>
          </a:p>
          <a:p>
            <a:r>
              <a:rPr sz="1800" dirty="0">
                <a:solidFill>
                  <a:srgbClr val="282828"/>
                </a:solidFill>
              </a:rPr>
              <a:t>Goal is to maintain balance (homeostasis)</a:t>
            </a:r>
          </a:p>
          <a:p>
            <a:r>
              <a:rPr sz="1800" dirty="0">
                <a:solidFill>
                  <a:srgbClr val="282828"/>
                </a:solidFill>
              </a:rPr>
              <a:t>If stress increases → illness occurs</a:t>
            </a:r>
          </a:p>
          <a:p>
            <a:r>
              <a:rPr sz="1800" dirty="0">
                <a:solidFill>
                  <a:srgbClr val="282828"/>
                </a:solidFill>
              </a:rPr>
              <a:t>Here for this particular topic The Betty Neuman explains that a child is an open system who is constantly affected by different types of stressors from the environment. These stressors may be internal (like illness or anxiety), interpersonal (such as family problems), or external (like school pressure or social issues). The child has lines of defense, such as good nutrition, immunity, and emotional support, which protect against these stressors and help maintain normal health. When these defenses are strong, the child remains healthy, but when stressors break through, it can lead to physical or psychological problems.</a:t>
            </a:r>
          </a:p>
          <a:p>
            <a:r>
              <a:rPr sz="1800" dirty="0">
                <a:solidFill>
                  <a:srgbClr val="282828"/>
                </a:solidFill>
              </a:rPr>
              <a:t>The model also emphasizes three levels of prevention. Primary prevention focuses on avoiding problems before they occur, secondary prevention involves early detection and treatment, and tertiary prevention aims at rehabilitation and preventing complications.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Types:</a:t>
            </a:r>
          </a:p>
        </p:txBody>
      </p:sp>
      <p:sp>
        <p:nvSpPr>
          <p:cNvPr id="3" name="Content Placeholder 2"/>
          <p:cNvSpPr>
            <a:spLocks noGrp="1"/>
          </p:cNvSpPr>
          <p:nvPr>
            <p:ph idx="1"/>
          </p:nvPr>
        </p:nvSpPr>
        <p:spPr/>
        <p:txBody>
          <a:bodyPr/>
          <a:lstStyle/>
          <a:p>
            <a:r>
              <a:rPr sz="1800">
                <a:solidFill>
                  <a:srgbClr val="282828"/>
                </a:solidFill>
              </a:rPr>
              <a:t>In a child guidance clinic, this theory helps nurses identify emotional and behavioral stressors affecting the child and provide counseling and early intervention to restore mental balance. In preventive pediatrics, it guides nurses to strengthen the child’s defenses through immunization, nutrition, health education, and regular screening. Thus, the Neuman model is useful in maintaining the child’s overall health by preventing illness and promoting well-being.</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JOURNAL ABSTRACT</a:t>
            </a:r>
          </a:p>
        </p:txBody>
      </p:sp>
      <p:sp>
        <p:nvSpPr>
          <p:cNvPr id="3" name="Content Placeholder 2"/>
          <p:cNvSpPr>
            <a:spLocks noGrp="1"/>
          </p:cNvSpPr>
          <p:nvPr>
            <p:ph idx="1"/>
          </p:nvPr>
        </p:nvSpPr>
        <p:spPr>
          <a:xfrm>
            <a:off x="457200" y="1166018"/>
            <a:ext cx="8229600" cy="4525963"/>
          </a:xfrm>
        </p:spPr>
        <p:txBody>
          <a:bodyPr>
            <a:normAutofit fontScale="85000" lnSpcReduction="10000"/>
          </a:bodyPr>
          <a:lstStyle/>
          <a:p>
            <a:r>
              <a:rPr sz="1800" dirty="0" err="1">
                <a:solidFill>
                  <a:srgbClr val="282828"/>
                </a:solidFill>
              </a:rPr>
              <a:t>Summerization</a:t>
            </a:r>
            <a:endParaRPr sz="1800" dirty="0">
              <a:solidFill>
                <a:srgbClr val="282828"/>
              </a:solidFill>
            </a:endParaRPr>
          </a:p>
          <a:p>
            <a:r>
              <a:rPr sz="1800" dirty="0">
                <a:solidFill>
                  <a:srgbClr val="282828"/>
                </a:solidFill>
              </a:rPr>
              <a:t>Child guidance clinics focus on the assessment and management of behavioral, emotional, and develop Child guidance clinics and preventive pediatrics are essential components of child health care that work together to ensure the overall well-being of children. Child guidance clinics focus on the early identification and management of behavioral, emotional, and developmental problems, while preventive pediatrics emphasizes health promotion, disease prevention, and early diagnosis. Through regular screening, parental education, proper nutrition, immunization, and timely intervention, these services help in reducing morbidity and promoting healthy growth and development. Together, they contribute to building a healthy, balanced, and well-adjusted child population, which is vital for the future of society.</a:t>
            </a:r>
          </a:p>
          <a:p>
            <a:r>
              <a:rPr sz="1800" dirty="0">
                <a:solidFill>
                  <a:srgbClr val="282828"/>
                </a:solidFill>
              </a:rPr>
              <a:t>Conclusion</a:t>
            </a:r>
          </a:p>
          <a:p>
            <a:r>
              <a:rPr sz="1800" dirty="0">
                <a:solidFill>
                  <a:srgbClr val="282828"/>
                </a:solidFill>
              </a:rPr>
              <a:t>Child guidance clinics and preventive pediatrics are essential components of child health care that work together to ensure the overall well-being of children. Child guidance clinics focus on the early identification and management of behavioral, emotional, and developmental problems, while preventive pediatrics emphasizes health promotion, disease prevention, and early diagnosis. Through regular screening, parental education, proper nutrition, immunization, and timely intervention, these services help in reducing morbidity and promoting healthy growth and development. Together, they contribute to building a healthy, balanced, and well-adjusted child population, which is vital for the future of society.</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6699"/>
                </a:solidFill>
              </a:rPr>
              <a:t>BOOK REFERENCE:</a:t>
            </a:r>
          </a:p>
        </p:txBody>
      </p:sp>
      <p:sp>
        <p:nvSpPr>
          <p:cNvPr id="3" name="Content Placeholder 2"/>
          <p:cNvSpPr>
            <a:spLocks noGrp="1"/>
          </p:cNvSpPr>
          <p:nvPr>
            <p:ph idx="1"/>
          </p:nvPr>
        </p:nvSpPr>
        <p:spPr/>
        <p:txBody>
          <a:bodyPr/>
          <a:lstStyle/>
          <a:p>
            <a:r>
              <a:rPr sz="1800">
                <a:solidFill>
                  <a:srgbClr val="282828"/>
                </a:solidFill>
              </a:rPr>
              <a:t>1.	Datta P. Pediatric nursing. Published by “Jaypee Publisher”. Edition, 2nd , page no. 472-73.</a:t>
            </a:r>
          </a:p>
          <a:p>
            <a:r>
              <a:rPr sz="1800">
                <a:solidFill>
                  <a:srgbClr val="282828"/>
                </a:solidFill>
              </a:rPr>
              <a:t>2.	Sharma R. Essential of Pediatric Nursing. Published by “Jaypee Publisher”. Edition, 2nd , page no. 667-78.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6803</Words>
  <Application>Microsoft Office PowerPoint</Application>
  <PresentationFormat>On-screen Show (4:3)</PresentationFormat>
  <Paragraphs>678</Paragraphs>
  <Slides>106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106</vt:i4>
      </vt:variant>
    </vt:vector>
  </HeadingPairs>
  <TitlesOfParts>
    <vt:vector size="109" baseType="lpstr">
      <vt:lpstr>Arial</vt:lpstr>
      <vt:lpstr>Calibri</vt:lpstr>
      <vt:lpstr>Office Theme</vt:lpstr>
      <vt:lpstr>INTRODUCTION:</vt:lpstr>
      <vt:lpstr>Definition:</vt:lpstr>
      <vt:lpstr>HISTORY OF CHILD GUIDANCE CLINIC</vt:lpstr>
      <vt:lpstr>The first Child Guidance Clinic was established in Chicago, USA by William Healy.He worked at the Juvenile Psychopathic Institute, where he studied children with behavioral problems and juvenile delinquency. This clinic focused on understanding the psychological causes of children's behavior.1920s–1930s:</vt:lpstr>
      <vt:lpstr>1937 – First Child Guidance Clinic in India:</vt:lpstr>
      <vt:lpstr>Objectives:</vt:lpstr>
      <vt:lpstr>NEED AND SIGNIFICANCE OF  CHILD GUIDANCE CLINIC</vt:lpstr>
      <vt:lpstr>A Child Guidance Clinic is a specialized service that helps in the assessment, prevention, and management of behavioral, emotional, and developmental problems in children. The following are the main principles:</vt:lpstr>
      <vt:lpstr>A Child Guidance Clinic is a specialized service that helps in the assessment, prevention, and management of behavioral, emotional, and developmental problems in children. The following are the main principles:</vt:lpstr>
      <vt:lpstr>Child Guidance Clinics work with a team of professionals, such as:</vt:lpstr>
      <vt:lpstr>CGC works with a multidisciplinary team approach:</vt:lpstr>
      <vt:lpstr>The clinic focuses not only on treatment but also on preventing behavioral and emotional problems through:</vt:lpstr>
      <vt:lpstr>The clinic focuses not only on treatment but also on preventing behavioral and emotional problems through:</vt:lpstr>
      <vt:lpstr>The clinic focuses not only on treatment but also on preventing behavioral and emotional problems through:</vt:lpstr>
      <vt:lpstr>SERVICES PROVIDED BY CHILD GUIDANCE CLINIC</vt:lpstr>
      <vt:lpstr>SERVICES PROVIDED BY CHILD GUIDANCE CLINIC</vt:lpstr>
      <vt:lpstr>SERVICES PROVIDED BY CHILD GUIDANCE CLINIC</vt:lpstr>
      <vt:lpstr>SERVICES PROVIDED BY CHILD GUIDANCE CLINIC</vt:lpstr>
      <vt:lpstr>SERVICES PROVIDED BY CHILD GUIDANCE CLINIC</vt:lpstr>
      <vt:lpstr>SERVICES PROVIDED BY CHILD GUIDANCE CLINIC</vt:lpstr>
      <vt:lpstr>SERVICES PROVIDED BY CHILD GUIDANCE CLINIC</vt:lpstr>
      <vt:lpstr>Aim:</vt:lpstr>
      <vt:lpstr>Common treatment methods:</vt:lpstr>
      <vt:lpstr>Aim:</vt:lpstr>
      <vt:lpstr>Aim:</vt:lpstr>
      <vt:lpstr>Interventions include:</vt:lpstr>
      <vt:lpstr>.IMPORTANCE OF CHILD GUIDANCE CLINIC</vt:lpstr>
      <vt:lpstr>.IMPORTANCE OF CHILD GUIDANCE CLINIC</vt:lpstr>
      <vt:lpstr>.IMPORTANCE OF CHILD GUIDANCE CLINIC</vt:lpstr>
      <vt:lpstr>.IMPORTANCE OF CHILD GUIDANCE CLINIC</vt:lpstr>
      <vt:lpstr>Role of a pediatric nurse in child guidance clinic:</vt:lpstr>
      <vt:lpstr>Role of a pediatric nurse in child guidance clinic:</vt:lpstr>
      <vt:lpstr>Role of a pediatric nurse in child guidance clinic:</vt:lpstr>
      <vt:lpstr>Role of a pediatric nurse in child guidance clinic:</vt:lpstr>
      <vt:lpstr>Role of a pediatric nurse in child guidance clinic:</vt:lpstr>
      <vt:lpstr>Conclusion:</vt:lpstr>
      <vt:lpstr>REFERENCE:</vt:lpstr>
      <vt:lpstr>PREVENTIVE PEDIATRICS</vt:lpstr>
      <vt:lpstr>It involves three levels of prevention:</vt:lpstr>
      <vt:lpstr>Examples:</vt:lpstr>
      <vt:lpstr>Examples:</vt:lpstr>
      <vt:lpstr>Examples:</vt:lpstr>
      <vt:lpstr>Examples:</vt:lpstr>
      <vt:lpstr>Examples:</vt:lpstr>
      <vt:lpstr>Examples:</vt:lpstr>
      <vt:lpstr>Preventive pediatrics follows certain important principles:</vt:lpstr>
      <vt:lpstr>Preventive pediatrics follows certain important principles:</vt:lpstr>
      <vt:lpstr>Preventive pediatrics requires cooperation of:</vt:lpstr>
      <vt:lpstr>The main aims are:</vt:lpstr>
      <vt:lpstr>This includes:</vt:lpstr>
      <vt:lpstr>Example:</vt:lpstr>
      <vt:lpstr>Example:</vt:lpstr>
      <vt:lpstr>Preventive pediatrics helps decrease:</vt:lpstr>
      <vt:lpstr>Parents should know about:</vt:lpstr>
      <vt:lpstr>Important objectives include:</vt:lpstr>
      <vt:lpstr>Important objectives include:</vt:lpstr>
      <vt:lpstr>Includes:</vt:lpstr>
      <vt:lpstr>Includes:</vt:lpstr>
      <vt:lpstr>Examples:</vt:lpstr>
      <vt:lpstr>Includes:</vt:lpstr>
      <vt:lpstr>Common nutritional problems:</vt:lpstr>
      <vt:lpstr>Regular measurement of:</vt:lpstr>
      <vt:lpstr>Growth charts help identify:</vt:lpstr>
      <vt:lpstr>Monitoring developmental milestones such as:</vt:lpstr>
      <vt:lpstr>Methods include:</vt:lpstr>
      <vt:lpstr>Examples:</vt:lpstr>
      <vt:lpstr>School health programs include:</vt:lpstr>
      <vt:lpstr>Includes:</vt:lpstr>
      <vt:lpstr>Adolescents face many issues such as:</vt:lpstr>
      <vt:lpstr>Educating parents and communities about:</vt:lpstr>
      <vt:lpstr>Educating parents and communities about:</vt:lpstr>
      <vt:lpstr>Educating parents and communities about:</vt:lpstr>
      <vt:lpstr>American Academy of Pediatrics recommends for well child visit at the following intervals:</vt:lpstr>
      <vt:lpstr>PREVENTIVE IMMUNIZATION</vt:lpstr>
      <vt:lpstr>PREVENTIVE IMMUNIZATION</vt:lpstr>
      <vt:lpstr>PREVENTIVE IMMUNIZATION</vt:lpstr>
      <vt:lpstr>PREVENTIVE IMMUNIZATION</vt:lpstr>
      <vt:lpstr>PREVENTIVE IMMUNIZATION</vt:lpstr>
      <vt:lpstr>PREVENTIVE IMMUNIZATION</vt:lpstr>
      <vt:lpstr>PREVENTIVE IMMUNIZATION</vt:lpstr>
      <vt:lpstr>PREVENTIVE IMMUNIZATION</vt:lpstr>
      <vt:lpstr>PREVENTIVE IMMUNIZATION</vt:lpstr>
      <vt:lpstr>PREVENTIVE IMMUNIZATION</vt:lpstr>
      <vt:lpstr>PREVENTIVE IMMUNIZATION</vt:lpstr>
      <vt:lpstr>Preventive pediatrics is important because it:</vt:lpstr>
      <vt:lpstr>Preventive pediatrics is important because it:</vt:lpstr>
      <vt:lpstr>UNDER-FIVE CLINICS</vt:lpstr>
      <vt:lpstr>OBJECTIVE</vt:lpstr>
      <vt:lpstr>Diagnosis and treatment of:</vt:lpstr>
      <vt:lpstr>Diagnosis and treatment of:</vt:lpstr>
      <vt:lpstr>ROLE OF A NURSE IN UNDER FIVE’S CLINIC</vt:lpstr>
      <vt:lpstr>ROLE OF A NURSE IN UNDER FIVE’S CLINIC</vt:lpstr>
      <vt:lpstr>WELL-BABY CLINIC</vt:lpstr>
      <vt:lpstr>WELL-BABY CLINIC</vt:lpstr>
      <vt:lpstr>WELL-BABY CLINIC</vt:lpstr>
      <vt:lpstr>Developmental screening must be done at specific ages:</vt:lpstr>
      <vt:lpstr>All children should be screened for autism at:</vt:lpstr>
      <vt:lpstr>Latest update:</vt:lpstr>
      <vt:lpstr>Examples:</vt:lpstr>
      <vt:lpstr>Examples:</vt:lpstr>
      <vt:lpstr>Examples:</vt:lpstr>
      <vt:lpstr>Types:</vt:lpstr>
      <vt:lpstr>Types:</vt:lpstr>
      <vt:lpstr>Types:</vt:lpstr>
      <vt:lpstr>JOURNAL ABSTRACT</vt:lpstr>
      <vt:lpstr>BOOK 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Sirsendu Bose</cp:lastModifiedBy>
  <cp:revision>2</cp:revision>
  <dcterms:created xsi:type="dcterms:W3CDTF">2013-01-27T09:14:16Z</dcterms:created>
  <dcterms:modified xsi:type="dcterms:W3CDTF">2026-03-26T17:53:05Z</dcterms:modified>
  <cp:category/>
</cp:coreProperties>
</file>